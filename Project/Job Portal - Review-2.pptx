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6" d="100"/>
          <a:sy n="86" d="100"/>
        </p:scale>
        <p:origin x="533"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862557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3436"/>
        </a:solidFill>
        <a:effectLst/>
      </p:bgPr>
    </p:bg>
    <p:spTree>
      <p:nvGrpSpPr>
        <p:cNvPr id="1" name=""/>
        <p:cNvGrpSpPr/>
        <p:nvPr/>
      </p:nvGrpSpPr>
      <p:grpSpPr>
        <a:xfrm>
          <a:off x="0" y="0"/>
          <a:ext cx="0" cy="0"/>
          <a:chOff x="0" y="0"/>
          <a:chExt cx="0" cy="0"/>
        </a:xfrm>
      </p:grpSpPr>
      <p:sp>
        <p:nvSpPr>
          <p:cNvPr id="2" name="Shape 0"/>
          <p:cNvSpPr/>
          <p:nvPr/>
        </p:nvSpPr>
        <p:spPr>
          <a:xfrm>
            <a:off x="9692640" y="-1280160"/>
            <a:ext cx="4572000" cy="4572000"/>
          </a:xfrm>
          <a:prstGeom prst="ellipse">
            <a:avLst/>
          </a:prstGeom>
          <a:solidFill>
            <a:srgbClr val="028090">
              <a:alpha val="45000"/>
            </a:srgbClr>
          </a:solidFill>
          <a:ln/>
        </p:spPr>
      </p:sp>
      <p:sp>
        <p:nvSpPr>
          <p:cNvPr id="3" name="Shape 1"/>
          <p:cNvSpPr/>
          <p:nvPr/>
        </p:nvSpPr>
        <p:spPr>
          <a:xfrm>
            <a:off x="-1463040" y="4754880"/>
            <a:ext cx="3657600" cy="3657600"/>
          </a:xfrm>
          <a:prstGeom prst="ellipse">
            <a:avLst/>
          </a:prstGeom>
          <a:solidFill>
            <a:srgbClr val="00A896">
              <a:alpha val="40000"/>
            </a:srgbClr>
          </a:solidFill>
          <a:ln/>
        </p:spPr>
      </p:sp>
      <p:sp>
        <p:nvSpPr>
          <p:cNvPr id="4" name="Text 2"/>
          <p:cNvSpPr txBox="1"/>
          <p:nvPr/>
        </p:nvSpPr>
        <p:spPr>
          <a:xfrm>
            <a:off x="822960" y="640080"/>
            <a:ext cx="10515600" cy="457200"/>
          </a:xfrm>
          <a:prstGeom prst="rect">
            <a:avLst/>
          </a:prstGeom>
          <a:noFill/>
          <a:ln/>
        </p:spPr>
        <p:txBody>
          <a:bodyPr wrap="square" lIns="0" tIns="0" rIns="0" bIns="0" rtlCol="0" anchor="ctr"/>
          <a:lstStyle/>
          <a:p>
            <a:pPr marL="0" indent="0">
              <a:buNone/>
            </a:pPr>
            <a:r>
              <a:rPr lang="en-US" sz="1300" kern="0" spc="200" dirty="0">
                <a:solidFill>
                  <a:srgbClr val="02C39A"/>
                </a:solidFill>
                <a:latin typeface="Calibri" pitchFamily="34" charset="0"/>
                <a:ea typeface="Calibri" pitchFamily="34" charset="-122"/>
                <a:cs typeface="Calibri" pitchFamily="34" charset="-120"/>
              </a:rPr>
              <a:t>DATABASE SYSTEMS ENGINEERING AND DISTRIBUTED BACKEND DEVELOPMENT</a:t>
            </a:r>
            <a:endParaRPr lang="en-US" sz="1300" dirty="0"/>
          </a:p>
        </p:txBody>
      </p:sp>
      <p:sp>
        <p:nvSpPr>
          <p:cNvPr id="5" name="Text 3"/>
          <p:cNvSpPr txBox="1"/>
          <p:nvPr/>
        </p:nvSpPr>
        <p:spPr>
          <a:xfrm>
            <a:off x="822960" y="1371600"/>
            <a:ext cx="10515600" cy="1737360"/>
          </a:xfrm>
          <a:prstGeom prst="rect">
            <a:avLst/>
          </a:prstGeom>
          <a:noFill/>
          <a:ln/>
        </p:spPr>
        <p:txBody>
          <a:bodyPr wrap="square" lIns="0" tIns="0" rIns="0" bIns="0" rtlCol="0" anchor="ctr"/>
          <a:lstStyle/>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Job Portal with</a:t>
            </a:r>
            <a:endParaRPr lang="en-US" sz="4000" dirty="0"/>
          </a:p>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Resume Parsing &amp; Matching</a:t>
            </a:r>
            <a:endParaRPr lang="en-US" sz="4000" dirty="0"/>
          </a:p>
        </p:txBody>
      </p:sp>
      <p:sp>
        <p:nvSpPr>
          <p:cNvPr id="6" name="Text 4"/>
          <p:cNvSpPr txBox="1"/>
          <p:nvPr/>
        </p:nvSpPr>
        <p:spPr>
          <a:xfrm>
            <a:off x="822960" y="3063240"/>
            <a:ext cx="9601200" cy="457200"/>
          </a:xfrm>
          <a:prstGeom prst="rect">
            <a:avLst/>
          </a:prstGeom>
          <a:noFill/>
          <a:ln/>
        </p:spPr>
        <p:txBody>
          <a:bodyPr wrap="square" lIns="0" tIns="0" rIns="0" bIns="0" rtlCol="0" anchor="ctr"/>
          <a:lstStyle/>
          <a:p>
            <a:pPr marL="0" indent="0">
              <a:buNone/>
            </a:pPr>
            <a:r>
              <a:rPr lang="en-US" sz="1600" i="1" dirty="0">
                <a:solidFill>
                  <a:srgbClr val="CFE8E4"/>
                </a:solidFill>
                <a:latin typeface="Calibri" pitchFamily="34" charset="0"/>
                <a:ea typeface="Calibri" pitchFamily="34" charset="-122"/>
                <a:cs typeface="Calibri" pitchFamily="34" charset="-120"/>
              </a:rPr>
              <a:t>An intelligent recruitment platform connecting job seekers and employers</a:t>
            </a:r>
            <a:endParaRPr lang="en-US" sz="1600" dirty="0"/>
          </a:p>
        </p:txBody>
      </p:sp>
      <p:sp>
        <p:nvSpPr>
          <p:cNvPr id="7" name="Shape 5"/>
          <p:cNvSpPr/>
          <p:nvPr/>
        </p:nvSpPr>
        <p:spPr>
          <a:xfrm>
            <a:off x="822960" y="3794760"/>
            <a:ext cx="6949440" cy="2148840"/>
          </a:xfrm>
          <a:prstGeom prst="roundRect">
            <a:avLst>
              <a:gd name="adj" fmla="val 5106"/>
            </a:avLst>
          </a:prstGeom>
          <a:solidFill>
            <a:srgbClr val="FFFFFF"/>
          </a:solidFill>
          <a:ln/>
          <a:effectLst>
            <a:outerShdw blurRad="101600" dist="38100" dir="5400000" algn="bl" rotWithShape="0">
              <a:srgbClr val="000000">
                <a:alpha val="25000"/>
              </a:srgbClr>
            </a:outerShdw>
          </a:effectLst>
        </p:spPr>
      </p:sp>
      <p:sp>
        <p:nvSpPr>
          <p:cNvPr id="8" name="Text 6"/>
          <p:cNvSpPr txBox="1"/>
          <p:nvPr/>
        </p:nvSpPr>
        <p:spPr>
          <a:xfrm>
            <a:off x="1143000" y="3977640"/>
            <a:ext cx="4572000" cy="320040"/>
          </a:xfrm>
          <a:prstGeom prst="rect">
            <a:avLst/>
          </a:prstGeom>
          <a:noFill/>
          <a:ln/>
        </p:spPr>
        <p:txBody>
          <a:bodyPr wrap="square" lIns="0" tIns="0" rIns="0" bIns="0" rtlCol="0" anchor="ctr"/>
          <a:lstStyle/>
          <a:p>
            <a:pPr marL="0" indent="0">
              <a:buNone/>
            </a:pPr>
            <a:r>
              <a:rPr lang="en-US" sz="1200" b="1" kern="0" spc="150" dirty="0">
                <a:solidFill>
                  <a:srgbClr val="028090"/>
                </a:solidFill>
                <a:latin typeface="Calibri" pitchFamily="34" charset="0"/>
                <a:ea typeface="Calibri" pitchFamily="34" charset="-122"/>
                <a:cs typeface="Calibri" pitchFamily="34" charset="-120"/>
              </a:rPr>
              <a:t>TEAM MEMBERS</a:t>
            </a:r>
            <a:endParaRPr lang="en-US" sz="1200" dirty="0"/>
          </a:p>
        </p:txBody>
      </p:sp>
      <p:sp>
        <p:nvSpPr>
          <p:cNvPr id="9" name="Shape 7"/>
          <p:cNvSpPr/>
          <p:nvPr/>
        </p:nvSpPr>
        <p:spPr>
          <a:xfrm>
            <a:off x="1143000" y="4434840"/>
            <a:ext cx="457200" cy="457200"/>
          </a:xfrm>
          <a:prstGeom prst="ellipse">
            <a:avLst/>
          </a:prstGeom>
          <a:solidFill>
            <a:srgbClr val="00A896"/>
          </a:solidFill>
          <a:ln/>
        </p:spPr>
      </p:sp>
      <p:sp>
        <p:nvSpPr>
          <p:cNvPr id="10" name="Text 8"/>
          <p:cNvSpPr txBox="1"/>
          <p:nvPr/>
        </p:nvSpPr>
        <p:spPr>
          <a:xfrm>
            <a:off x="1143000" y="443484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K</a:t>
            </a:r>
            <a:endParaRPr lang="en-US" sz="1800" dirty="0"/>
          </a:p>
        </p:txBody>
      </p:sp>
      <p:sp>
        <p:nvSpPr>
          <p:cNvPr id="11" name="Text 9"/>
          <p:cNvSpPr txBox="1"/>
          <p:nvPr/>
        </p:nvSpPr>
        <p:spPr>
          <a:xfrm>
            <a:off x="1783080" y="4416552"/>
            <a:ext cx="3291840" cy="274320"/>
          </a:xfrm>
          <a:prstGeom prst="rect">
            <a:avLst/>
          </a:prstGeom>
          <a:noFill/>
          <a:ln/>
        </p:spPr>
        <p:txBody>
          <a:bodyPr wrap="square" lIns="0" tIns="0" rIns="0" bIns="0" rtlCol="0" anchor="ctr"/>
          <a:lstStyle/>
          <a:p>
            <a:pPr marL="0" indent="0">
              <a:buNone/>
            </a:pPr>
            <a:r>
              <a:rPr lang="en-US" sz="1500" b="1" dirty="0">
                <a:solidFill>
                  <a:srgbClr val="16302F"/>
                </a:solidFill>
                <a:latin typeface="Calibri" pitchFamily="34" charset="0"/>
                <a:ea typeface="Calibri" pitchFamily="34" charset="-122"/>
                <a:cs typeface="Calibri" pitchFamily="34" charset="-120"/>
              </a:rPr>
              <a:t>K. Kavyasri</a:t>
            </a:r>
            <a:endParaRPr lang="en-US" sz="1500" dirty="0"/>
          </a:p>
        </p:txBody>
      </p:sp>
      <p:sp>
        <p:nvSpPr>
          <p:cNvPr id="12" name="Text 10"/>
          <p:cNvSpPr txBox="1"/>
          <p:nvPr/>
        </p:nvSpPr>
        <p:spPr>
          <a:xfrm>
            <a:off x="1783080" y="4681728"/>
            <a:ext cx="3291840" cy="274320"/>
          </a:xfrm>
          <a:prstGeom prst="rect">
            <a:avLst/>
          </a:prstGeom>
          <a:noFill/>
          <a:ln/>
        </p:spPr>
        <p:txBody>
          <a:bodyPr wrap="square" lIns="0" tIns="0" rIns="0" bIns="0" rtlCol="0" anchor="ctr"/>
          <a:lstStyle/>
          <a:p>
            <a:pPr marL="0" indent="0">
              <a:buNone/>
            </a:pPr>
            <a:r>
              <a:rPr lang="en-US" sz="1200" dirty="0">
                <a:solidFill>
                  <a:srgbClr val="5B6E6C"/>
                </a:solidFill>
                <a:latin typeface="Calibri" pitchFamily="34" charset="0"/>
                <a:ea typeface="Calibri" pitchFamily="34" charset="-122"/>
                <a:cs typeface="Calibri" pitchFamily="34" charset="-120"/>
              </a:rPr>
              <a:t>Roll No: 2520030564</a:t>
            </a:r>
            <a:endParaRPr lang="en-US" sz="1200" dirty="0"/>
          </a:p>
        </p:txBody>
      </p:sp>
      <p:sp>
        <p:nvSpPr>
          <p:cNvPr id="13" name="Shape 11"/>
          <p:cNvSpPr/>
          <p:nvPr/>
        </p:nvSpPr>
        <p:spPr>
          <a:xfrm>
            <a:off x="1143000" y="5212080"/>
            <a:ext cx="457200" cy="457200"/>
          </a:xfrm>
          <a:prstGeom prst="ellipse">
            <a:avLst/>
          </a:prstGeom>
          <a:solidFill>
            <a:srgbClr val="00A896"/>
          </a:solidFill>
          <a:ln/>
        </p:spPr>
      </p:sp>
      <p:sp>
        <p:nvSpPr>
          <p:cNvPr id="14" name="Text 12"/>
          <p:cNvSpPr txBox="1"/>
          <p:nvPr/>
        </p:nvSpPr>
        <p:spPr>
          <a:xfrm>
            <a:off x="1143000" y="521208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E</a:t>
            </a:r>
            <a:endParaRPr lang="en-US" sz="1800" dirty="0"/>
          </a:p>
        </p:txBody>
      </p:sp>
      <p:sp>
        <p:nvSpPr>
          <p:cNvPr id="15" name="Text 13"/>
          <p:cNvSpPr txBox="1"/>
          <p:nvPr/>
        </p:nvSpPr>
        <p:spPr>
          <a:xfrm>
            <a:off x="1783080" y="5193792"/>
            <a:ext cx="3291840" cy="274320"/>
          </a:xfrm>
          <a:prstGeom prst="rect">
            <a:avLst/>
          </a:prstGeom>
          <a:noFill/>
          <a:ln/>
        </p:spPr>
        <p:txBody>
          <a:bodyPr wrap="square" lIns="0" tIns="0" rIns="0" bIns="0" rtlCol="0" anchor="ctr"/>
          <a:lstStyle/>
          <a:p>
            <a:pPr marL="0" indent="0">
              <a:buNone/>
            </a:pPr>
            <a:r>
              <a:rPr lang="en-US" sz="1500" b="1" dirty="0">
                <a:solidFill>
                  <a:srgbClr val="16302F"/>
                </a:solidFill>
                <a:latin typeface="Calibri" pitchFamily="34" charset="0"/>
                <a:ea typeface="Calibri" pitchFamily="34" charset="-122"/>
                <a:cs typeface="Calibri" pitchFamily="34" charset="-120"/>
              </a:rPr>
              <a:t>E. Yeshwanth</a:t>
            </a:r>
            <a:endParaRPr lang="en-US" sz="1500" dirty="0"/>
          </a:p>
        </p:txBody>
      </p:sp>
      <p:sp>
        <p:nvSpPr>
          <p:cNvPr id="16" name="Text 14"/>
          <p:cNvSpPr txBox="1"/>
          <p:nvPr/>
        </p:nvSpPr>
        <p:spPr>
          <a:xfrm>
            <a:off x="1783080" y="5458968"/>
            <a:ext cx="3291840" cy="274320"/>
          </a:xfrm>
          <a:prstGeom prst="rect">
            <a:avLst/>
          </a:prstGeom>
          <a:noFill/>
          <a:ln/>
        </p:spPr>
        <p:txBody>
          <a:bodyPr wrap="square" lIns="0" tIns="0" rIns="0" bIns="0" rtlCol="0" anchor="ctr"/>
          <a:lstStyle/>
          <a:p>
            <a:pPr marL="0" indent="0">
              <a:buNone/>
            </a:pPr>
            <a:r>
              <a:rPr lang="en-US" sz="1200" dirty="0">
                <a:solidFill>
                  <a:srgbClr val="5B6E6C"/>
                </a:solidFill>
                <a:latin typeface="Calibri" pitchFamily="34" charset="0"/>
                <a:ea typeface="Calibri" pitchFamily="34" charset="-122"/>
                <a:cs typeface="Calibri" pitchFamily="34" charset="-120"/>
              </a:rPr>
              <a:t>Roll No: 2520030539</a:t>
            </a:r>
            <a:endParaRPr lang="en-US" sz="1200" dirty="0"/>
          </a:p>
        </p:txBody>
      </p:sp>
      <p:sp>
        <p:nvSpPr>
          <p:cNvPr id="17" name="Shape 15"/>
          <p:cNvSpPr/>
          <p:nvPr/>
        </p:nvSpPr>
        <p:spPr>
          <a:xfrm>
            <a:off x="8001000" y="3794760"/>
            <a:ext cx="3337560" cy="2148840"/>
          </a:xfrm>
          <a:prstGeom prst="roundRect">
            <a:avLst>
              <a:gd name="adj" fmla="val 5106"/>
            </a:avLst>
          </a:prstGeom>
          <a:solidFill>
            <a:srgbClr val="028090"/>
          </a:solidFill>
          <a:ln/>
          <a:effectLst>
            <a:outerShdw blurRad="101600" dist="38100" dir="5400000" algn="bl" rotWithShape="0">
              <a:srgbClr val="000000">
                <a:alpha val="25000"/>
              </a:srgbClr>
            </a:outerShdw>
          </a:effectLst>
        </p:spPr>
      </p:sp>
      <p:sp>
        <p:nvSpPr>
          <p:cNvPr id="18" name="Text 16"/>
          <p:cNvSpPr txBox="1"/>
          <p:nvPr/>
        </p:nvSpPr>
        <p:spPr>
          <a:xfrm>
            <a:off x="8275320" y="4023360"/>
            <a:ext cx="2788920" cy="1691640"/>
          </a:xfrm>
          <a:prstGeom prst="rect">
            <a:avLst/>
          </a:prstGeom>
          <a:noFill/>
          <a:ln/>
        </p:spPr>
        <p:txBody>
          <a:bodyPr wrap="square" lIns="0" tIns="0" rIns="0" bIns="0" rtlCol="0" anchor="t"/>
          <a:lstStyle/>
          <a:p>
            <a:pPr marL="0" indent="0">
              <a:buNone/>
            </a:pPr>
            <a:r>
              <a:rPr lang="en-US" sz="1100" b="1" kern="0" spc="100" dirty="0">
                <a:solidFill>
                  <a:srgbClr val="CFE8E4"/>
                </a:solidFill>
                <a:latin typeface="Calibri" pitchFamily="34" charset="0"/>
                <a:ea typeface="Calibri" pitchFamily="34" charset="-122"/>
                <a:cs typeface="Calibri" pitchFamily="34" charset="-120"/>
              </a:rPr>
              <a:t>TEAM NO.
</a:t>
            </a:r>
            <a:endParaRPr lang="en-US" sz="1100" dirty="0"/>
          </a:p>
          <a:p>
            <a:pPr marL="0" indent="0">
              <a:buNone/>
            </a:pPr>
            <a:r>
              <a:rPr lang="en-US" sz="2200" b="1" dirty="0">
                <a:solidFill>
                  <a:srgbClr val="FFFFFF"/>
                </a:solidFill>
                <a:latin typeface="Calibri" pitchFamily="34" charset="0"/>
                <a:ea typeface="Calibri" pitchFamily="34" charset="-122"/>
                <a:cs typeface="Calibri" pitchFamily="34" charset="-120"/>
              </a:rPr>
              <a:t>18
</a:t>
            </a:r>
            <a:endParaRPr lang="en-US" sz="1100" dirty="0"/>
          </a:p>
          <a:p>
            <a:pPr marL="0" indent="0">
              <a:buNone/>
            </a:pPr>
            <a:r>
              <a:rPr lang="en-US" sz="1100" b="1" kern="0" spc="100" dirty="0">
                <a:solidFill>
                  <a:srgbClr val="CFE8E4"/>
                </a:solidFill>
                <a:latin typeface="Calibri" pitchFamily="34" charset="0"/>
                <a:ea typeface="Calibri" pitchFamily="34" charset="-122"/>
                <a:cs typeface="Calibri" pitchFamily="34" charset="-120"/>
              </a:rPr>
              <a:t>GUIDE
</a:t>
            </a:r>
            <a:endParaRPr lang="en-US" sz="1100" dirty="0"/>
          </a:p>
          <a:p>
            <a:pPr marL="0" indent="0">
              <a:buNone/>
            </a:pPr>
            <a:r>
              <a:rPr lang="en-US" sz="1400" b="1" dirty="0">
                <a:solidFill>
                  <a:srgbClr val="FFFFFF"/>
                </a:solidFill>
                <a:latin typeface="Calibri" pitchFamily="34" charset="0"/>
                <a:ea typeface="Calibri" pitchFamily="34" charset="-122"/>
                <a:cs typeface="Calibri" pitchFamily="34" charset="-120"/>
              </a:rPr>
              <a:t>Dr. R. Sateesh Kumar</a:t>
            </a:r>
            <a:endParaRPr lang="en-US" sz="1100" dirty="0"/>
          </a:p>
        </p:txBody>
      </p:sp>
      <p:sp>
        <p:nvSpPr>
          <p:cNvPr id="19" name="Text 17"/>
          <p:cNvSpPr txBox="1"/>
          <p:nvPr/>
        </p:nvSpPr>
        <p:spPr>
          <a:xfrm>
            <a:off x="11521440" y="6492240"/>
            <a:ext cx="457200" cy="274320"/>
          </a:xfrm>
          <a:prstGeom prst="rect">
            <a:avLst/>
          </a:prstGeom>
          <a:noFill/>
          <a:ln/>
        </p:spPr>
        <p:txBody>
          <a:bodyPr wrap="square" lIns="0" tIns="0" rIns="0" bIns="0" rtlCol="0" anchor="ctr"/>
          <a:lstStyle/>
          <a:p>
            <a:pPr marL="0" indent="0" algn="r">
              <a:buNone/>
            </a:pPr>
            <a:r>
              <a:rPr lang="en-US" sz="1000" dirty="0">
                <a:solidFill>
                  <a:srgbClr val="9AA9A8"/>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A"/>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7315200" cy="640080"/>
          </a:xfrm>
          <a:prstGeom prst="rect">
            <a:avLst/>
          </a:prstGeom>
          <a:noFill/>
          <a:ln/>
        </p:spPr>
        <p:txBody>
          <a:bodyPr wrap="square" lIns="0" tIns="0" rIns="0" bIns="0" rtlCol="0" anchor="ctr"/>
          <a:lstStyle/>
          <a:p>
            <a:pPr marL="0" indent="0">
              <a:buNone/>
            </a:pPr>
            <a:r>
              <a:rPr lang="en-US" sz="3200" b="1" dirty="0">
                <a:solidFill>
                  <a:srgbClr val="028090"/>
                </a:solidFill>
                <a:latin typeface="Cambria" pitchFamily="34" charset="0"/>
                <a:ea typeface="Cambria" pitchFamily="34" charset="-122"/>
                <a:cs typeface="Cambria" pitchFamily="34" charset="-120"/>
              </a:rPr>
              <a:t>Abstract</a:t>
            </a:r>
            <a:endParaRPr lang="en-US" sz="3200" dirty="0"/>
          </a:p>
        </p:txBody>
      </p:sp>
      <p:sp>
        <p:nvSpPr>
          <p:cNvPr id="5" name="Shape 3"/>
          <p:cNvSpPr/>
          <p:nvPr/>
        </p:nvSpPr>
        <p:spPr>
          <a:xfrm>
            <a:off x="640080" y="1417320"/>
            <a:ext cx="10881360" cy="4846320"/>
          </a:xfrm>
          <a:prstGeom prst="roundRect">
            <a:avLst>
              <a:gd name="adj" fmla="val 1887"/>
            </a:avLst>
          </a:prstGeom>
          <a:solidFill>
            <a:srgbClr val="FFFFFF"/>
          </a:solidFill>
          <a:ln w="12700">
            <a:solidFill>
              <a:srgbClr val="E1EDEB"/>
            </a:solidFill>
            <a:prstDash val="solid"/>
          </a:ln>
          <a:effectLst>
            <a:outerShdw blurRad="127000" dist="38100" dir="5400000" algn="bl" rotWithShape="0">
              <a:srgbClr val="000000">
                <a:alpha val="12000"/>
              </a:srgbClr>
            </a:outerShdw>
          </a:effectLst>
        </p:spPr>
        <p:txBody>
          <a:bodyPr/>
          <a:lstStyle/>
          <a:p>
            <a:pPr algn="just"/>
            <a:r>
              <a:rPr lang="en-US" dirty="0"/>
              <a:t>The Job Portal with Resume Parsing &amp; Matching is an intelligent web-based platform designed to simplify and improve the recruitment process for both job seekers and employers . Traditional job portals often rely on manual resume screening and basic keyword searches, which can be time-consuming and may overlook suitable candidates. Our system addresses this by combining job searching, resume parsing, and automated candidate-job matching in a single platform . Job seekers can create profiles, upload resumes, search for suitable jobs, and apply for positions. The system extracts important information such as skills, educational qualifications, work experience, and certifications from uploaded resumes . For employers, the platform allows recruiters to post job vacancies, define required skills and qualifications, and view suitable candidates. The system compares resume information with job requirements and generates a matching score or ranking . The platform can also provide personalized job recommendations, helping candidates discover relevant opportunities while enabling recruiters to shortlist candidates more efficiently . Overall, the system aims to make recruitment faster, more accurate, efficient, and transparent while reducing the time and effort involved in the hiring process.</a:t>
            </a:r>
          </a:p>
          <a:p>
            <a:endParaRPr lang="en-IN" dirty="0"/>
          </a:p>
        </p:txBody>
      </p:sp>
      <p:sp>
        <p:nvSpPr>
          <p:cNvPr id="7" name="Text 5"/>
          <p:cNvSpPr txBox="1"/>
          <p:nvPr/>
        </p:nvSpPr>
        <p:spPr>
          <a:xfrm>
            <a:off x="11521440" y="6492240"/>
            <a:ext cx="457200" cy="274320"/>
          </a:xfrm>
          <a:prstGeom prst="rect">
            <a:avLst/>
          </a:prstGeom>
          <a:noFill/>
          <a:ln/>
        </p:spPr>
        <p:txBody>
          <a:bodyPr wrap="square" lIns="0" tIns="0" rIns="0" bIns="0" rtlCol="0" anchor="ctr"/>
          <a:lstStyle/>
          <a:p>
            <a:pPr marL="0" indent="0" algn="r">
              <a:buNone/>
            </a:pPr>
            <a:r>
              <a:rPr lang="en-US" sz="1000" dirty="0">
                <a:solidFill>
                  <a:srgbClr val="9AA9A8"/>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A"/>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8229600" cy="640080"/>
          </a:xfrm>
          <a:prstGeom prst="rect">
            <a:avLst/>
          </a:prstGeom>
          <a:noFill/>
          <a:ln/>
        </p:spPr>
        <p:txBody>
          <a:bodyPr wrap="square" lIns="0" tIns="0" rIns="0" bIns="0" rtlCol="0" anchor="ctr"/>
          <a:lstStyle/>
          <a:p>
            <a:pPr marL="0" indent="0">
              <a:buNone/>
            </a:pPr>
            <a:r>
              <a:rPr lang="en-US" sz="3200" b="1" dirty="0">
                <a:solidFill>
                  <a:srgbClr val="028090"/>
                </a:solidFill>
                <a:latin typeface="Cambria" pitchFamily="34" charset="0"/>
                <a:ea typeface="Cambria" pitchFamily="34" charset="-122"/>
                <a:cs typeface="Cambria" pitchFamily="34" charset="-120"/>
              </a:rPr>
              <a:t>Problem Statement</a:t>
            </a:r>
            <a:endParaRPr lang="en-US" sz="3200" dirty="0"/>
          </a:p>
        </p:txBody>
      </p:sp>
      <p:sp>
        <p:nvSpPr>
          <p:cNvPr id="3" name="Shape 1"/>
          <p:cNvSpPr/>
          <p:nvPr/>
        </p:nvSpPr>
        <p:spPr>
          <a:xfrm>
            <a:off x="640080" y="1645920"/>
            <a:ext cx="2480310" cy="4297680"/>
          </a:xfrm>
          <a:prstGeom prst="roundRect">
            <a:avLst>
              <a:gd name="adj" fmla="val 3687"/>
            </a:avLst>
          </a:prstGeom>
          <a:solidFill>
            <a:srgbClr val="FFFFFF"/>
          </a:solidFill>
          <a:ln w="12700">
            <a:solidFill>
              <a:srgbClr val="E1EDEB"/>
            </a:solidFill>
            <a:prstDash val="solid"/>
          </a:ln>
          <a:effectLst>
            <a:outerShdw blurRad="101600" dist="25400" dir="5400000" algn="bl" rotWithShape="0">
              <a:srgbClr val="000000">
                <a:alpha val="10000"/>
              </a:srgbClr>
            </a:outerShdw>
          </a:effectLst>
        </p:spPr>
      </p:sp>
      <p:sp>
        <p:nvSpPr>
          <p:cNvPr id="6" name="Text 4"/>
          <p:cNvSpPr txBox="1"/>
          <p:nvPr/>
        </p:nvSpPr>
        <p:spPr>
          <a:xfrm>
            <a:off x="822960" y="2788920"/>
            <a:ext cx="2114550" cy="822960"/>
          </a:xfrm>
          <a:prstGeom prst="rect">
            <a:avLst/>
          </a:prstGeom>
          <a:noFill/>
          <a:ln/>
        </p:spPr>
        <p:txBody>
          <a:bodyPr wrap="square" lIns="0" tIns="0" rIns="0" bIns="0" rtlCol="0" anchor="ctr"/>
          <a:lstStyle/>
          <a:p>
            <a:pPr algn="ctr"/>
            <a:r>
              <a:rPr lang="en-IN" sz="1400" dirty="0"/>
              <a:t>Manual Resume </a:t>
            </a:r>
          </a:p>
          <a:p>
            <a:pPr algn="ctr"/>
            <a:r>
              <a:rPr lang="en-IN" sz="1400" dirty="0"/>
              <a:t>Screening</a:t>
            </a:r>
            <a:endParaRPr lang="en-US" sz="1400" dirty="0"/>
          </a:p>
        </p:txBody>
      </p:sp>
      <p:sp>
        <p:nvSpPr>
          <p:cNvPr id="7" name="Text 5"/>
          <p:cNvSpPr txBox="1"/>
          <p:nvPr/>
        </p:nvSpPr>
        <p:spPr>
          <a:xfrm>
            <a:off x="868680" y="3611880"/>
            <a:ext cx="2023110" cy="2103120"/>
          </a:xfrm>
          <a:prstGeom prst="rect">
            <a:avLst/>
          </a:prstGeom>
          <a:noFill/>
          <a:ln/>
        </p:spPr>
        <p:txBody>
          <a:bodyPr wrap="square" lIns="0" tIns="0" rIns="0" bIns="0" rtlCol="0" anchor="t"/>
          <a:lstStyle/>
          <a:p>
            <a:pPr algn="just">
              <a:lnSpc>
                <a:spcPct val="120000"/>
              </a:lnSpc>
            </a:pPr>
            <a:r>
              <a:rPr lang="en-US" sz="1200" dirty="0"/>
              <a:t>Recruiters often have to go through a large number of resumes manually. This makes the hiring process slow and increases the effort needed to find suitable candidates.</a:t>
            </a:r>
            <a:endParaRPr lang="en-US" sz="1150" dirty="0"/>
          </a:p>
        </p:txBody>
      </p:sp>
      <p:sp>
        <p:nvSpPr>
          <p:cNvPr id="8" name="Shape 6"/>
          <p:cNvSpPr/>
          <p:nvPr/>
        </p:nvSpPr>
        <p:spPr>
          <a:xfrm>
            <a:off x="3440430" y="1645920"/>
            <a:ext cx="2480310" cy="4297680"/>
          </a:xfrm>
          <a:prstGeom prst="roundRect">
            <a:avLst>
              <a:gd name="adj" fmla="val 3687"/>
            </a:avLst>
          </a:prstGeom>
          <a:solidFill>
            <a:srgbClr val="FFFFFF"/>
          </a:solidFill>
          <a:ln w="12700">
            <a:solidFill>
              <a:srgbClr val="E1EDEB"/>
            </a:solidFill>
            <a:prstDash val="solid"/>
          </a:ln>
          <a:effectLst>
            <a:outerShdw blurRad="101600" dist="25400" dir="5400000" algn="bl" rotWithShape="0">
              <a:srgbClr val="000000">
                <a:alpha val="10000"/>
              </a:srgbClr>
            </a:outerShdw>
          </a:effectLst>
        </p:spPr>
      </p:sp>
      <p:sp>
        <p:nvSpPr>
          <p:cNvPr id="11" name="Text 9"/>
          <p:cNvSpPr txBox="1"/>
          <p:nvPr/>
        </p:nvSpPr>
        <p:spPr>
          <a:xfrm>
            <a:off x="3623310" y="2788920"/>
            <a:ext cx="2114550" cy="822960"/>
          </a:xfrm>
          <a:prstGeom prst="rect">
            <a:avLst/>
          </a:prstGeom>
          <a:noFill/>
          <a:ln/>
        </p:spPr>
        <p:txBody>
          <a:bodyPr wrap="square" lIns="0" tIns="0" rIns="0" bIns="0" rtlCol="0" anchor="ctr"/>
          <a:lstStyle/>
          <a:p>
            <a:pPr algn="ctr"/>
            <a:r>
              <a:rPr lang="en-IN" sz="1400" dirty="0"/>
              <a:t>Limited Keyword</a:t>
            </a:r>
          </a:p>
          <a:p>
            <a:pPr algn="ctr"/>
            <a:r>
              <a:rPr lang="en-IN" sz="1400" dirty="0"/>
              <a:t> Matching</a:t>
            </a:r>
            <a:endParaRPr lang="en-US" sz="1400" dirty="0"/>
          </a:p>
        </p:txBody>
      </p:sp>
      <p:sp>
        <p:nvSpPr>
          <p:cNvPr id="12" name="Text 10"/>
          <p:cNvSpPr txBox="1"/>
          <p:nvPr/>
        </p:nvSpPr>
        <p:spPr>
          <a:xfrm>
            <a:off x="3669030" y="3611880"/>
            <a:ext cx="2023110" cy="2103120"/>
          </a:xfrm>
          <a:prstGeom prst="rect">
            <a:avLst/>
          </a:prstGeom>
          <a:noFill/>
          <a:ln/>
        </p:spPr>
        <p:txBody>
          <a:bodyPr wrap="square" lIns="0" tIns="0" rIns="0" bIns="0" rtlCol="0" anchor="t"/>
          <a:lstStyle/>
          <a:p>
            <a:pPr algn="just">
              <a:lnSpc>
                <a:spcPct val="120000"/>
              </a:lnSpc>
            </a:pPr>
            <a:r>
              <a:rPr lang="en-US" sz="1200" dirty="0"/>
              <a:t>Traditional job portals mainly depend on simple keyword searches. Because of this, relevant candidates may be missed when their skills or experience are described differently.</a:t>
            </a:r>
            <a:endParaRPr lang="en-US" sz="1150" dirty="0"/>
          </a:p>
        </p:txBody>
      </p:sp>
      <p:sp>
        <p:nvSpPr>
          <p:cNvPr id="13" name="Shape 11"/>
          <p:cNvSpPr/>
          <p:nvPr/>
        </p:nvSpPr>
        <p:spPr>
          <a:xfrm>
            <a:off x="6240780" y="1645920"/>
            <a:ext cx="2480310" cy="4297680"/>
          </a:xfrm>
          <a:prstGeom prst="roundRect">
            <a:avLst>
              <a:gd name="adj" fmla="val 3687"/>
            </a:avLst>
          </a:prstGeom>
          <a:solidFill>
            <a:srgbClr val="FFFFFF"/>
          </a:solidFill>
          <a:ln w="12700">
            <a:solidFill>
              <a:srgbClr val="E1EDEB"/>
            </a:solidFill>
            <a:prstDash val="solid"/>
          </a:ln>
          <a:effectLst>
            <a:outerShdw blurRad="101600" dist="25400" dir="5400000" algn="bl" rotWithShape="0">
              <a:srgbClr val="000000">
                <a:alpha val="10000"/>
              </a:srgbClr>
            </a:outerShdw>
          </a:effectLst>
        </p:spPr>
      </p:sp>
      <p:sp>
        <p:nvSpPr>
          <p:cNvPr id="16" name="Text 14"/>
          <p:cNvSpPr txBox="1"/>
          <p:nvPr/>
        </p:nvSpPr>
        <p:spPr>
          <a:xfrm>
            <a:off x="6423660" y="2788920"/>
            <a:ext cx="2114550" cy="822960"/>
          </a:xfrm>
          <a:prstGeom prst="rect">
            <a:avLst/>
          </a:prstGeom>
          <a:noFill/>
          <a:ln/>
        </p:spPr>
        <p:txBody>
          <a:bodyPr wrap="square" lIns="0" tIns="0" rIns="0" bIns="0" rtlCol="0" anchor="ctr"/>
          <a:lstStyle/>
          <a:p>
            <a:pPr algn="ctr"/>
            <a:r>
              <a:rPr lang="en-US" sz="1400" dirty="0"/>
              <a:t>Difficulty Finding </a:t>
            </a:r>
          </a:p>
          <a:p>
            <a:pPr algn="ctr"/>
            <a:r>
              <a:rPr lang="en-US" sz="1400" dirty="0"/>
              <a:t>the Right Job</a:t>
            </a:r>
          </a:p>
        </p:txBody>
      </p:sp>
      <p:sp>
        <p:nvSpPr>
          <p:cNvPr id="17" name="Text 15"/>
          <p:cNvSpPr txBox="1"/>
          <p:nvPr/>
        </p:nvSpPr>
        <p:spPr>
          <a:xfrm>
            <a:off x="6469380" y="3611880"/>
            <a:ext cx="2023110" cy="2103120"/>
          </a:xfrm>
          <a:prstGeom prst="rect">
            <a:avLst/>
          </a:prstGeom>
          <a:noFill/>
          <a:ln/>
        </p:spPr>
        <p:txBody>
          <a:bodyPr wrap="square" lIns="0" tIns="0" rIns="0" bIns="0" rtlCol="0" anchor="t"/>
          <a:lstStyle/>
          <a:p>
            <a:pPr algn="just">
              <a:lnSpc>
                <a:spcPct val="120000"/>
              </a:lnSpc>
            </a:pPr>
            <a:r>
              <a:rPr lang="en-US" sz="1200" dirty="0"/>
              <a:t>Job seekers may have difficulty identifying opportunities that truly match their skills, qualifications, and experience. This can lead to unsuitable applications and wasted time.</a:t>
            </a:r>
            <a:endParaRPr lang="en-US" sz="1150" dirty="0"/>
          </a:p>
        </p:txBody>
      </p:sp>
      <p:sp>
        <p:nvSpPr>
          <p:cNvPr id="18" name="Shape 16"/>
          <p:cNvSpPr/>
          <p:nvPr/>
        </p:nvSpPr>
        <p:spPr>
          <a:xfrm>
            <a:off x="9041130" y="1645920"/>
            <a:ext cx="2480310" cy="4297680"/>
          </a:xfrm>
          <a:prstGeom prst="roundRect">
            <a:avLst>
              <a:gd name="adj" fmla="val 3687"/>
            </a:avLst>
          </a:prstGeom>
          <a:solidFill>
            <a:srgbClr val="FFFFFF"/>
          </a:solidFill>
          <a:ln w="12700">
            <a:solidFill>
              <a:srgbClr val="E1EDEB"/>
            </a:solidFill>
            <a:prstDash val="solid"/>
          </a:ln>
          <a:effectLst>
            <a:outerShdw blurRad="101600" dist="25400" dir="5400000" algn="bl" rotWithShape="0">
              <a:srgbClr val="000000">
                <a:alpha val="10000"/>
              </a:srgbClr>
            </a:outerShdw>
          </a:effectLst>
        </p:spPr>
      </p:sp>
      <p:sp>
        <p:nvSpPr>
          <p:cNvPr id="21" name="Text 19"/>
          <p:cNvSpPr txBox="1"/>
          <p:nvPr/>
        </p:nvSpPr>
        <p:spPr>
          <a:xfrm>
            <a:off x="9224010" y="2788920"/>
            <a:ext cx="2114550" cy="822960"/>
          </a:xfrm>
          <a:prstGeom prst="rect">
            <a:avLst/>
          </a:prstGeom>
          <a:noFill/>
          <a:ln/>
        </p:spPr>
        <p:txBody>
          <a:bodyPr wrap="square" lIns="0" tIns="0" rIns="0" bIns="0" rtlCol="0" anchor="ctr"/>
          <a:lstStyle/>
          <a:p>
            <a:pPr algn="ctr"/>
            <a:r>
              <a:rPr lang="en-IN" sz="1400" dirty="0"/>
              <a:t>Need for Smart</a:t>
            </a:r>
          </a:p>
          <a:p>
            <a:pPr algn="ctr"/>
            <a:r>
              <a:rPr lang="en-IN" sz="1400" dirty="0"/>
              <a:t> Matching</a:t>
            </a:r>
            <a:endParaRPr lang="en-US" sz="1400" dirty="0"/>
          </a:p>
        </p:txBody>
      </p:sp>
      <p:sp>
        <p:nvSpPr>
          <p:cNvPr id="22" name="Text 20"/>
          <p:cNvSpPr txBox="1"/>
          <p:nvPr/>
        </p:nvSpPr>
        <p:spPr>
          <a:xfrm>
            <a:off x="9269730" y="3611880"/>
            <a:ext cx="2023110" cy="2103120"/>
          </a:xfrm>
          <a:prstGeom prst="rect">
            <a:avLst/>
          </a:prstGeom>
          <a:noFill/>
          <a:ln/>
        </p:spPr>
        <p:txBody>
          <a:bodyPr wrap="square" lIns="0" tIns="0" rIns="0" bIns="0" rtlCol="0" anchor="t"/>
          <a:lstStyle/>
          <a:p>
            <a:pPr algn="just">
              <a:lnSpc>
                <a:spcPct val="120000"/>
              </a:lnSpc>
            </a:pPr>
            <a:r>
              <a:rPr lang="en-US" sz="1200"/>
              <a:t>A better system is needed to automatically understand resume details, compare them with job requirements, and identify the most suitable matches quickly.</a:t>
            </a:r>
            <a:endParaRPr lang="en-US" sz="1150" dirty="0"/>
          </a:p>
        </p:txBody>
      </p:sp>
      <p:sp>
        <p:nvSpPr>
          <p:cNvPr id="23" name="Text 21"/>
          <p:cNvSpPr txBox="1"/>
          <p:nvPr/>
        </p:nvSpPr>
        <p:spPr>
          <a:xfrm>
            <a:off x="11521440" y="6492240"/>
            <a:ext cx="457200" cy="274320"/>
          </a:xfrm>
          <a:prstGeom prst="rect">
            <a:avLst/>
          </a:prstGeom>
          <a:noFill/>
          <a:ln/>
        </p:spPr>
        <p:txBody>
          <a:bodyPr wrap="square" lIns="0" tIns="0" rIns="0" bIns="0" rtlCol="0" anchor="ctr"/>
          <a:lstStyle/>
          <a:p>
            <a:pPr marL="0" indent="0" algn="r">
              <a:buNone/>
            </a:pPr>
            <a:r>
              <a:rPr lang="en-US" sz="1000" dirty="0">
                <a:solidFill>
                  <a:srgbClr val="9AA9A8"/>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A"/>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8229600" cy="640080"/>
          </a:xfrm>
          <a:prstGeom prst="rect">
            <a:avLst/>
          </a:prstGeom>
          <a:noFill/>
          <a:ln/>
        </p:spPr>
        <p:txBody>
          <a:bodyPr wrap="square" lIns="0" tIns="0" rIns="0" bIns="0" rtlCol="0" anchor="ctr"/>
          <a:lstStyle/>
          <a:p>
            <a:pPr marL="0" indent="0">
              <a:buNone/>
            </a:pPr>
            <a:r>
              <a:rPr lang="en-US" sz="3200" b="1" dirty="0">
                <a:solidFill>
                  <a:srgbClr val="028090"/>
                </a:solidFill>
                <a:latin typeface="Cambria" pitchFamily="34" charset="0"/>
                <a:ea typeface="Cambria" pitchFamily="34" charset="-122"/>
                <a:cs typeface="Cambria" pitchFamily="34" charset="-120"/>
              </a:rPr>
              <a:t>Our Solution</a:t>
            </a:r>
            <a:endParaRPr lang="en-US" sz="3200" dirty="0"/>
          </a:p>
        </p:txBody>
      </p:sp>
      <p:sp>
        <p:nvSpPr>
          <p:cNvPr id="3" name="Shape 1"/>
          <p:cNvSpPr/>
          <p:nvPr/>
        </p:nvSpPr>
        <p:spPr>
          <a:xfrm>
            <a:off x="640080" y="1645920"/>
            <a:ext cx="2480310" cy="4297680"/>
          </a:xfrm>
          <a:prstGeom prst="roundRect">
            <a:avLst>
              <a:gd name="adj" fmla="val 3687"/>
            </a:avLst>
          </a:prstGeom>
          <a:solidFill>
            <a:srgbClr val="FFFFFF"/>
          </a:solidFill>
          <a:ln w="12700">
            <a:solidFill>
              <a:srgbClr val="E1EDEB"/>
            </a:solidFill>
            <a:prstDash val="solid"/>
          </a:ln>
          <a:effectLst>
            <a:outerShdw blurRad="101600" dist="25400" dir="5400000" algn="bl" rotWithShape="0">
              <a:srgbClr val="000000">
                <a:alpha val="10000"/>
              </a:srgbClr>
            </a:outerShdw>
          </a:effectLst>
        </p:spPr>
      </p:sp>
      <p:sp>
        <p:nvSpPr>
          <p:cNvPr id="4" name="Shape 2"/>
          <p:cNvSpPr/>
          <p:nvPr/>
        </p:nvSpPr>
        <p:spPr>
          <a:xfrm>
            <a:off x="1560195" y="1965960"/>
            <a:ext cx="640080" cy="640080"/>
          </a:xfrm>
          <a:prstGeom prst="ellipse">
            <a:avLst/>
          </a:prstGeom>
          <a:solidFill>
            <a:srgbClr val="00A896"/>
          </a:solidFill>
          <a:ln/>
        </p:spPr>
      </p:sp>
      <p:sp>
        <p:nvSpPr>
          <p:cNvPr id="5" name="Text 3"/>
          <p:cNvSpPr txBox="1"/>
          <p:nvPr/>
        </p:nvSpPr>
        <p:spPr>
          <a:xfrm>
            <a:off x="1560195" y="1965960"/>
            <a:ext cx="640080" cy="64008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6" name="Text 4"/>
          <p:cNvSpPr txBox="1"/>
          <p:nvPr/>
        </p:nvSpPr>
        <p:spPr>
          <a:xfrm>
            <a:off x="822960" y="2788920"/>
            <a:ext cx="2114550" cy="822960"/>
          </a:xfrm>
          <a:prstGeom prst="rect">
            <a:avLst/>
          </a:prstGeom>
          <a:noFill/>
          <a:ln/>
        </p:spPr>
        <p:txBody>
          <a:bodyPr wrap="square" lIns="0" tIns="0" rIns="0" bIns="0" rtlCol="0" anchor="ctr"/>
          <a:lstStyle/>
          <a:p>
            <a:pPr algn="ctr"/>
            <a:r>
              <a:rPr lang="en-IN" sz="1400" dirty="0"/>
              <a:t>Automated Resume Screening</a:t>
            </a:r>
            <a:endParaRPr lang="en-US" sz="1400" dirty="0"/>
          </a:p>
        </p:txBody>
      </p:sp>
      <p:sp>
        <p:nvSpPr>
          <p:cNvPr id="7" name="Text 5"/>
          <p:cNvSpPr txBox="1"/>
          <p:nvPr/>
        </p:nvSpPr>
        <p:spPr>
          <a:xfrm>
            <a:off x="868680" y="3611880"/>
            <a:ext cx="2023110" cy="2103120"/>
          </a:xfrm>
          <a:prstGeom prst="rect">
            <a:avLst/>
          </a:prstGeom>
          <a:noFill/>
          <a:ln/>
        </p:spPr>
        <p:txBody>
          <a:bodyPr wrap="square" lIns="0" tIns="0" rIns="0" bIns="0" rtlCol="0" anchor="t"/>
          <a:lstStyle/>
          <a:p>
            <a:pPr algn="just">
              <a:lnSpc>
                <a:spcPct val="120000"/>
              </a:lnSpc>
            </a:pPr>
            <a:r>
              <a:rPr lang="en-US" sz="1200"/>
              <a:t>The system automatically extracts important details from resumes, such as skills, education, experience, and certifications. This reduces the time and effort required for manual screening.</a:t>
            </a:r>
            <a:endParaRPr lang="en-US" sz="1150" dirty="0"/>
          </a:p>
        </p:txBody>
      </p:sp>
      <p:sp>
        <p:nvSpPr>
          <p:cNvPr id="8" name="Shape 6"/>
          <p:cNvSpPr/>
          <p:nvPr/>
        </p:nvSpPr>
        <p:spPr>
          <a:xfrm>
            <a:off x="3440430" y="1645920"/>
            <a:ext cx="2480310" cy="4297680"/>
          </a:xfrm>
          <a:prstGeom prst="roundRect">
            <a:avLst>
              <a:gd name="adj" fmla="val 3687"/>
            </a:avLst>
          </a:prstGeom>
          <a:solidFill>
            <a:srgbClr val="FFFFFF"/>
          </a:solidFill>
          <a:ln w="12700">
            <a:solidFill>
              <a:srgbClr val="E1EDEB"/>
            </a:solidFill>
            <a:prstDash val="solid"/>
          </a:ln>
          <a:effectLst>
            <a:outerShdw blurRad="101600" dist="25400" dir="5400000" algn="bl" rotWithShape="0">
              <a:srgbClr val="000000">
                <a:alpha val="10000"/>
              </a:srgbClr>
            </a:outerShdw>
          </a:effectLst>
        </p:spPr>
      </p:sp>
      <p:sp>
        <p:nvSpPr>
          <p:cNvPr id="9" name="Shape 7"/>
          <p:cNvSpPr/>
          <p:nvPr/>
        </p:nvSpPr>
        <p:spPr>
          <a:xfrm>
            <a:off x="4360545" y="1965960"/>
            <a:ext cx="640080" cy="640080"/>
          </a:xfrm>
          <a:prstGeom prst="ellipse">
            <a:avLst/>
          </a:prstGeom>
          <a:solidFill>
            <a:srgbClr val="00A896"/>
          </a:solidFill>
          <a:ln/>
        </p:spPr>
      </p:sp>
      <p:sp>
        <p:nvSpPr>
          <p:cNvPr id="10" name="Text 8"/>
          <p:cNvSpPr txBox="1"/>
          <p:nvPr/>
        </p:nvSpPr>
        <p:spPr>
          <a:xfrm>
            <a:off x="4360545" y="1965960"/>
            <a:ext cx="640080" cy="64008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11" name="Text 9"/>
          <p:cNvSpPr txBox="1"/>
          <p:nvPr/>
        </p:nvSpPr>
        <p:spPr>
          <a:xfrm>
            <a:off x="3623310" y="2788920"/>
            <a:ext cx="2114550" cy="822960"/>
          </a:xfrm>
          <a:prstGeom prst="rect">
            <a:avLst/>
          </a:prstGeom>
          <a:noFill/>
          <a:ln/>
        </p:spPr>
        <p:txBody>
          <a:bodyPr wrap="square" lIns="0" tIns="0" rIns="0" bIns="0" rtlCol="0" anchor="ctr"/>
          <a:lstStyle/>
          <a:p>
            <a:pPr algn="ctr"/>
            <a:r>
              <a:rPr lang="en-IN" sz="1400" dirty="0"/>
              <a:t>Intelligent Resume </a:t>
            </a:r>
          </a:p>
          <a:p>
            <a:pPr algn="ctr"/>
            <a:r>
              <a:rPr lang="en-IN" sz="1400" dirty="0"/>
              <a:t>Matching</a:t>
            </a:r>
            <a:endParaRPr lang="en-US" sz="1400" dirty="0"/>
          </a:p>
        </p:txBody>
      </p:sp>
      <p:sp>
        <p:nvSpPr>
          <p:cNvPr id="12" name="Text 10"/>
          <p:cNvSpPr txBox="1"/>
          <p:nvPr/>
        </p:nvSpPr>
        <p:spPr>
          <a:xfrm>
            <a:off x="3669030" y="3611880"/>
            <a:ext cx="2023110" cy="2103120"/>
          </a:xfrm>
          <a:prstGeom prst="rect">
            <a:avLst/>
          </a:prstGeom>
          <a:noFill/>
          <a:ln/>
        </p:spPr>
        <p:txBody>
          <a:bodyPr wrap="square" lIns="0" tIns="0" rIns="0" bIns="0" rtlCol="0" anchor="t"/>
          <a:lstStyle/>
          <a:p>
            <a:pPr algn="just">
              <a:lnSpc>
                <a:spcPct val="120000"/>
              </a:lnSpc>
            </a:pPr>
            <a:r>
              <a:rPr lang="en-US" sz="1200"/>
              <a:t>Instead of relying only on keywords, the system compares the information in a resume with the skills and qualifications required for a job and generates a matching score.</a:t>
            </a:r>
            <a:endParaRPr lang="en-US" sz="1150" dirty="0"/>
          </a:p>
        </p:txBody>
      </p:sp>
      <p:sp>
        <p:nvSpPr>
          <p:cNvPr id="13" name="Shape 11"/>
          <p:cNvSpPr/>
          <p:nvPr/>
        </p:nvSpPr>
        <p:spPr>
          <a:xfrm>
            <a:off x="6240780" y="1645920"/>
            <a:ext cx="2480310" cy="4297680"/>
          </a:xfrm>
          <a:prstGeom prst="roundRect">
            <a:avLst>
              <a:gd name="adj" fmla="val 3687"/>
            </a:avLst>
          </a:prstGeom>
          <a:solidFill>
            <a:srgbClr val="FFFFFF"/>
          </a:solidFill>
          <a:ln w="12700">
            <a:solidFill>
              <a:srgbClr val="E1EDEB"/>
            </a:solidFill>
            <a:prstDash val="solid"/>
          </a:ln>
          <a:effectLst>
            <a:outerShdw blurRad="101600" dist="25400" dir="5400000" algn="bl" rotWithShape="0">
              <a:srgbClr val="000000">
                <a:alpha val="10000"/>
              </a:srgbClr>
            </a:outerShdw>
          </a:effectLst>
        </p:spPr>
      </p:sp>
      <p:sp>
        <p:nvSpPr>
          <p:cNvPr id="14" name="Shape 12"/>
          <p:cNvSpPr/>
          <p:nvPr/>
        </p:nvSpPr>
        <p:spPr>
          <a:xfrm>
            <a:off x="7160895" y="1965960"/>
            <a:ext cx="640080" cy="640080"/>
          </a:xfrm>
          <a:prstGeom prst="ellipse">
            <a:avLst/>
          </a:prstGeom>
          <a:solidFill>
            <a:srgbClr val="00A896"/>
          </a:solidFill>
          <a:ln/>
        </p:spPr>
      </p:sp>
      <p:sp>
        <p:nvSpPr>
          <p:cNvPr id="15" name="Text 13"/>
          <p:cNvSpPr txBox="1"/>
          <p:nvPr/>
        </p:nvSpPr>
        <p:spPr>
          <a:xfrm>
            <a:off x="7160895" y="1965960"/>
            <a:ext cx="640080" cy="64008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16" name="Text 14"/>
          <p:cNvSpPr txBox="1"/>
          <p:nvPr/>
        </p:nvSpPr>
        <p:spPr>
          <a:xfrm>
            <a:off x="6423660" y="2788920"/>
            <a:ext cx="2114550" cy="822960"/>
          </a:xfrm>
          <a:prstGeom prst="rect">
            <a:avLst/>
          </a:prstGeom>
          <a:noFill/>
          <a:ln/>
        </p:spPr>
        <p:txBody>
          <a:bodyPr wrap="square" lIns="0" tIns="0" rIns="0" bIns="0" rtlCol="0" anchor="ctr"/>
          <a:lstStyle/>
          <a:p>
            <a:pPr algn="ctr"/>
            <a:r>
              <a:rPr lang="en-IN" sz="1400"/>
              <a:t>Personalized Job Recommendations</a:t>
            </a:r>
            <a:endParaRPr lang="en-US" sz="1400" dirty="0"/>
          </a:p>
        </p:txBody>
      </p:sp>
      <p:sp>
        <p:nvSpPr>
          <p:cNvPr id="17" name="Text 15"/>
          <p:cNvSpPr txBox="1"/>
          <p:nvPr/>
        </p:nvSpPr>
        <p:spPr>
          <a:xfrm>
            <a:off x="6469380" y="3611880"/>
            <a:ext cx="2023110" cy="2103120"/>
          </a:xfrm>
          <a:prstGeom prst="rect">
            <a:avLst/>
          </a:prstGeom>
          <a:noFill/>
          <a:ln/>
        </p:spPr>
        <p:txBody>
          <a:bodyPr wrap="square" lIns="0" tIns="0" rIns="0" bIns="0" rtlCol="0" anchor="t"/>
          <a:lstStyle/>
          <a:p>
            <a:pPr algn="just">
              <a:lnSpc>
                <a:spcPct val="120000"/>
              </a:lnSpc>
            </a:pPr>
            <a:r>
              <a:rPr lang="en-US" sz="1200"/>
              <a:t>The system uses the candidate’s profile and skills to suggest relevant job opportunities, making it easier for job seekers to find suitable positions.</a:t>
            </a:r>
            <a:endParaRPr lang="en-US" sz="1150" dirty="0"/>
          </a:p>
        </p:txBody>
      </p:sp>
      <p:sp>
        <p:nvSpPr>
          <p:cNvPr id="18" name="Shape 16"/>
          <p:cNvSpPr/>
          <p:nvPr/>
        </p:nvSpPr>
        <p:spPr>
          <a:xfrm>
            <a:off x="9041130" y="1645920"/>
            <a:ext cx="2480310" cy="4297680"/>
          </a:xfrm>
          <a:prstGeom prst="roundRect">
            <a:avLst>
              <a:gd name="adj" fmla="val 3687"/>
            </a:avLst>
          </a:prstGeom>
          <a:solidFill>
            <a:srgbClr val="FFFFFF"/>
          </a:solidFill>
          <a:ln w="12700">
            <a:solidFill>
              <a:srgbClr val="E1EDEB"/>
            </a:solidFill>
            <a:prstDash val="solid"/>
          </a:ln>
          <a:effectLst>
            <a:outerShdw blurRad="101600" dist="25400" dir="5400000" algn="bl" rotWithShape="0">
              <a:srgbClr val="000000">
                <a:alpha val="10000"/>
              </a:srgbClr>
            </a:outerShdw>
          </a:effectLst>
        </p:spPr>
      </p:sp>
      <p:sp>
        <p:nvSpPr>
          <p:cNvPr id="19" name="Shape 17"/>
          <p:cNvSpPr/>
          <p:nvPr/>
        </p:nvSpPr>
        <p:spPr>
          <a:xfrm>
            <a:off x="9961245" y="1965960"/>
            <a:ext cx="640080" cy="640080"/>
          </a:xfrm>
          <a:prstGeom prst="ellipse">
            <a:avLst/>
          </a:prstGeom>
          <a:solidFill>
            <a:srgbClr val="00A896"/>
          </a:solidFill>
          <a:ln/>
        </p:spPr>
      </p:sp>
      <p:sp>
        <p:nvSpPr>
          <p:cNvPr id="20" name="Text 18"/>
          <p:cNvSpPr txBox="1"/>
          <p:nvPr/>
        </p:nvSpPr>
        <p:spPr>
          <a:xfrm>
            <a:off x="9961245" y="1965960"/>
            <a:ext cx="640080" cy="64008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21" name="Text 19"/>
          <p:cNvSpPr txBox="1"/>
          <p:nvPr/>
        </p:nvSpPr>
        <p:spPr>
          <a:xfrm>
            <a:off x="9224010" y="2788920"/>
            <a:ext cx="2114550" cy="822960"/>
          </a:xfrm>
          <a:prstGeom prst="rect">
            <a:avLst/>
          </a:prstGeom>
          <a:noFill/>
          <a:ln/>
        </p:spPr>
        <p:txBody>
          <a:bodyPr wrap="square" lIns="0" tIns="0" rIns="0" bIns="0" rtlCol="0" anchor="ctr"/>
          <a:lstStyle/>
          <a:p>
            <a:pPr algn="ctr"/>
            <a:r>
              <a:rPr lang="en-IN" sz="1400" dirty="0"/>
              <a:t>Faster Candidate </a:t>
            </a:r>
          </a:p>
          <a:p>
            <a:pPr algn="ctr"/>
            <a:r>
              <a:rPr lang="en-IN" sz="1400" dirty="0"/>
              <a:t>Shortlisting</a:t>
            </a:r>
            <a:endParaRPr lang="en-US" sz="1400" dirty="0"/>
          </a:p>
        </p:txBody>
      </p:sp>
      <p:sp>
        <p:nvSpPr>
          <p:cNvPr id="22" name="Text 20"/>
          <p:cNvSpPr txBox="1"/>
          <p:nvPr/>
        </p:nvSpPr>
        <p:spPr>
          <a:xfrm>
            <a:off x="9269730" y="3611880"/>
            <a:ext cx="2023110" cy="2103120"/>
          </a:xfrm>
          <a:prstGeom prst="rect">
            <a:avLst/>
          </a:prstGeom>
          <a:noFill/>
          <a:ln/>
        </p:spPr>
        <p:txBody>
          <a:bodyPr wrap="square" lIns="0" tIns="0" rIns="0" bIns="0" rtlCol="0" anchor="t"/>
          <a:lstStyle/>
          <a:p>
            <a:pPr algn="just">
              <a:lnSpc>
                <a:spcPct val="120000"/>
              </a:lnSpc>
            </a:pPr>
            <a:r>
              <a:rPr lang="en-US" sz="1200"/>
              <a:t>Recruiters can view ranked and suitable candidates based on their matching scores. This helps them quickly identify potential candidates and makes the hiring process more efficient.</a:t>
            </a:r>
            <a:endParaRPr lang="en-US" sz="1150" dirty="0"/>
          </a:p>
        </p:txBody>
      </p:sp>
      <p:sp>
        <p:nvSpPr>
          <p:cNvPr id="23" name="Text 21"/>
          <p:cNvSpPr txBox="1"/>
          <p:nvPr/>
        </p:nvSpPr>
        <p:spPr>
          <a:xfrm>
            <a:off x="11521440" y="6492240"/>
            <a:ext cx="457200" cy="274320"/>
          </a:xfrm>
          <a:prstGeom prst="rect">
            <a:avLst/>
          </a:prstGeom>
          <a:noFill/>
          <a:ln/>
        </p:spPr>
        <p:txBody>
          <a:bodyPr wrap="square" lIns="0" tIns="0" rIns="0" bIns="0" rtlCol="0" anchor="ctr"/>
          <a:lstStyle/>
          <a:p>
            <a:pPr marL="0" indent="0" algn="r">
              <a:buNone/>
            </a:pPr>
            <a:r>
              <a:rPr lang="en-US" sz="1000" dirty="0">
                <a:solidFill>
                  <a:srgbClr val="9AA9A8"/>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A"/>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9144000" cy="640080"/>
          </a:xfrm>
          <a:prstGeom prst="rect">
            <a:avLst/>
          </a:prstGeom>
          <a:noFill/>
          <a:ln/>
        </p:spPr>
        <p:txBody>
          <a:bodyPr wrap="square" lIns="0" tIns="0" rIns="0" bIns="0" rtlCol="0" anchor="ctr"/>
          <a:lstStyle/>
          <a:p>
            <a:pPr marL="0" indent="0">
              <a:buNone/>
            </a:pPr>
            <a:r>
              <a:rPr lang="en-US" sz="3200" b="1" dirty="0">
                <a:solidFill>
                  <a:srgbClr val="028090"/>
                </a:solidFill>
                <a:latin typeface="Cambria" pitchFamily="34" charset="0"/>
                <a:ea typeface="Cambria" pitchFamily="34" charset="-122"/>
                <a:cs typeface="Cambria" pitchFamily="34" charset="-120"/>
              </a:rPr>
              <a:t>Existing vs Proposed System</a:t>
            </a:r>
            <a:endParaRPr lang="en-US" sz="3200" dirty="0"/>
          </a:p>
        </p:txBody>
      </p:sp>
      <p:sp>
        <p:nvSpPr>
          <p:cNvPr id="27" name="Text 25"/>
          <p:cNvSpPr txBox="1"/>
          <p:nvPr/>
        </p:nvSpPr>
        <p:spPr>
          <a:xfrm>
            <a:off x="11521440" y="6492240"/>
            <a:ext cx="457200" cy="274320"/>
          </a:xfrm>
          <a:prstGeom prst="rect">
            <a:avLst/>
          </a:prstGeom>
          <a:noFill/>
          <a:ln/>
        </p:spPr>
        <p:txBody>
          <a:bodyPr wrap="square" lIns="0" tIns="0" rIns="0" bIns="0" rtlCol="0" anchor="ctr"/>
          <a:lstStyle/>
          <a:p>
            <a:pPr marL="0" indent="0" algn="r">
              <a:buNone/>
            </a:pPr>
            <a:r>
              <a:rPr lang="en-US" sz="1000" dirty="0">
                <a:solidFill>
                  <a:srgbClr val="9AA9A8"/>
                </a:solidFill>
                <a:latin typeface="Calibri" pitchFamily="34" charset="0"/>
                <a:ea typeface="Calibri" pitchFamily="34" charset="-122"/>
                <a:cs typeface="Calibri" pitchFamily="34" charset="-120"/>
              </a:rPr>
              <a:t>5</a:t>
            </a:r>
            <a:endParaRPr lang="en-US" sz="1000" dirty="0"/>
          </a:p>
        </p:txBody>
      </p:sp>
      <p:graphicFrame>
        <p:nvGraphicFramePr>
          <p:cNvPr id="28" name="Table 27">
            <a:extLst>
              <a:ext uri="{FF2B5EF4-FFF2-40B4-BE49-F238E27FC236}">
                <a16:creationId xmlns:a16="http://schemas.microsoft.com/office/drawing/2014/main" id="{10D2EDAA-CADD-0602-DFE2-CB8AC106B886}"/>
              </a:ext>
            </a:extLst>
          </p:cNvPr>
          <p:cNvGraphicFramePr>
            <a:graphicFrameLocks noGrp="1"/>
          </p:cNvGraphicFramePr>
          <p:nvPr/>
        </p:nvGraphicFramePr>
        <p:xfrm>
          <a:off x="838200" y="1989614"/>
          <a:ext cx="10515600" cy="4023360"/>
        </p:xfrm>
        <a:graphic>
          <a:graphicData uri="http://schemas.openxmlformats.org/drawingml/2006/table">
            <a:tbl>
              <a:tblPr/>
              <a:tblGrid>
                <a:gridCol w="5257800">
                  <a:extLst>
                    <a:ext uri="{9D8B030D-6E8A-4147-A177-3AD203B41FA5}">
                      <a16:colId xmlns:a16="http://schemas.microsoft.com/office/drawing/2014/main" val="1100577124"/>
                    </a:ext>
                  </a:extLst>
                </a:gridCol>
                <a:gridCol w="5257800">
                  <a:extLst>
                    <a:ext uri="{9D8B030D-6E8A-4147-A177-3AD203B41FA5}">
                      <a16:colId xmlns:a16="http://schemas.microsoft.com/office/drawing/2014/main" val="307473276"/>
                    </a:ext>
                  </a:extLst>
                </a:gridCol>
              </a:tblGrid>
              <a:tr h="0">
                <a:tc>
                  <a:txBody>
                    <a:bodyPr/>
                    <a:lstStyle/>
                    <a:p>
                      <a:pPr>
                        <a:buNone/>
                      </a:pPr>
                      <a:r>
                        <a:rPr lang="en-IN" b="1"/>
                        <a:t>EXISTING SYSTEM</a:t>
                      </a:r>
                      <a:endParaRPr lang="en-IN"/>
                    </a:p>
                  </a:txBody>
                  <a:tcPr anchor="ctr">
                    <a:lnL>
                      <a:noFill/>
                    </a:lnL>
                    <a:lnR>
                      <a:noFill/>
                    </a:lnR>
                    <a:lnT>
                      <a:noFill/>
                    </a:lnT>
                    <a:lnB>
                      <a:noFill/>
                    </a:lnB>
                    <a:noFill/>
                  </a:tcPr>
                </a:tc>
                <a:tc>
                  <a:txBody>
                    <a:bodyPr/>
                    <a:lstStyle/>
                    <a:p>
                      <a:pPr>
                        <a:buNone/>
                      </a:pPr>
                      <a:r>
                        <a:rPr lang="en-IN" b="1"/>
                        <a:t>PROPOSED SYSTEM</a:t>
                      </a:r>
                      <a:endParaRPr lang="en-IN"/>
                    </a:p>
                  </a:txBody>
                  <a:tcPr anchor="ctr">
                    <a:lnL>
                      <a:noFill/>
                    </a:lnL>
                    <a:lnR>
                      <a:noFill/>
                    </a:lnR>
                    <a:lnT>
                      <a:noFill/>
                    </a:lnT>
                    <a:lnB>
                      <a:noFill/>
                    </a:lnB>
                    <a:noFill/>
                  </a:tcPr>
                </a:tc>
                <a:extLst>
                  <a:ext uri="{0D108BD9-81ED-4DB2-BD59-A6C34878D82A}">
                    <a16:rowId xmlns:a16="http://schemas.microsoft.com/office/drawing/2014/main" val="2587423028"/>
                  </a:ext>
                </a:extLst>
              </a:tr>
              <a:tr h="0">
                <a:tc>
                  <a:txBody>
                    <a:bodyPr/>
                    <a:lstStyle/>
                    <a:p>
                      <a:pPr>
                        <a:buNone/>
                      </a:pPr>
                      <a:r>
                        <a:rPr lang="en-US" b="1"/>
                        <a:t>Manual Resume Screening</a:t>
                      </a:r>
                      <a:r>
                        <a:rPr lang="en-US"/>
                        <a:t> – Recruiters check resumes one by one, which takes time.</a:t>
                      </a:r>
                    </a:p>
                  </a:txBody>
                  <a:tcPr anchor="ctr">
                    <a:lnL>
                      <a:noFill/>
                    </a:lnL>
                    <a:lnR>
                      <a:noFill/>
                    </a:lnR>
                    <a:lnT>
                      <a:noFill/>
                    </a:lnT>
                    <a:lnB>
                      <a:noFill/>
                    </a:lnB>
                    <a:noFill/>
                  </a:tcPr>
                </a:tc>
                <a:tc>
                  <a:txBody>
                    <a:bodyPr/>
                    <a:lstStyle/>
                    <a:p>
                      <a:pPr>
                        <a:buNone/>
                      </a:pPr>
                      <a:r>
                        <a:rPr lang="en-US" b="1"/>
                        <a:t>Automated Resume Parsing</a:t>
                      </a:r>
                      <a:r>
                        <a:rPr lang="en-US"/>
                        <a:t> – The system automatically extracts skills, education, and experience.</a:t>
                      </a:r>
                    </a:p>
                  </a:txBody>
                  <a:tcPr anchor="ctr">
                    <a:lnL>
                      <a:noFill/>
                    </a:lnL>
                    <a:lnR>
                      <a:noFill/>
                    </a:lnR>
                    <a:lnT>
                      <a:noFill/>
                    </a:lnT>
                    <a:lnB>
                      <a:noFill/>
                    </a:lnB>
                    <a:noFill/>
                  </a:tcPr>
                </a:tc>
                <a:extLst>
                  <a:ext uri="{0D108BD9-81ED-4DB2-BD59-A6C34878D82A}">
                    <a16:rowId xmlns:a16="http://schemas.microsoft.com/office/drawing/2014/main" val="2228755568"/>
                  </a:ext>
                </a:extLst>
              </a:tr>
              <a:tr h="0">
                <a:tc>
                  <a:txBody>
                    <a:bodyPr/>
                    <a:lstStyle/>
                    <a:p>
                      <a:pPr>
                        <a:buNone/>
                      </a:pPr>
                      <a:r>
                        <a:rPr lang="en-US" b="1"/>
                        <a:t>Basic Keyword Search</a:t>
                      </a:r>
                      <a:r>
                        <a:rPr lang="en-US"/>
                        <a:t> – Suitable candidates can be missed if their resume does not contain exact keywords.</a:t>
                      </a:r>
                    </a:p>
                  </a:txBody>
                  <a:tcPr anchor="ctr">
                    <a:lnL>
                      <a:noFill/>
                    </a:lnL>
                    <a:lnR>
                      <a:noFill/>
                    </a:lnR>
                    <a:lnT>
                      <a:noFill/>
                    </a:lnT>
                    <a:lnB>
                      <a:noFill/>
                    </a:lnB>
                    <a:noFill/>
                  </a:tcPr>
                </a:tc>
                <a:tc>
                  <a:txBody>
                    <a:bodyPr/>
                    <a:lstStyle/>
                    <a:p>
                      <a:pPr>
                        <a:buNone/>
                      </a:pPr>
                      <a:r>
                        <a:rPr lang="en-US" b="1"/>
                        <a:t>Smart Resume Matching</a:t>
                      </a:r>
                      <a:r>
                        <a:rPr lang="en-US"/>
                        <a:t> – Resumes are compared with job requirements to find suitable candidates.</a:t>
                      </a:r>
                    </a:p>
                  </a:txBody>
                  <a:tcPr anchor="ctr">
                    <a:lnL>
                      <a:noFill/>
                    </a:lnL>
                    <a:lnR>
                      <a:noFill/>
                    </a:lnR>
                    <a:lnT>
                      <a:noFill/>
                    </a:lnT>
                    <a:lnB>
                      <a:noFill/>
                    </a:lnB>
                    <a:noFill/>
                  </a:tcPr>
                </a:tc>
                <a:extLst>
                  <a:ext uri="{0D108BD9-81ED-4DB2-BD59-A6C34878D82A}">
                    <a16:rowId xmlns:a16="http://schemas.microsoft.com/office/drawing/2014/main" val="1360310982"/>
                  </a:ext>
                </a:extLst>
              </a:tr>
              <a:tr h="0">
                <a:tc>
                  <a:txBody>
                    <a:bodyPr/>
                    <a:lstStyle/>
                    <a:p>
                      <a:pPr>
                        <a:buNone/>
                      </a:pPr>
                      <a:r>
                        <a:rPr lang="en-US" b="1"/>
                        <a:t>Difficult Job Selection</a:t>
                      </a:r>
                      <a:r>
                        <a:rPr lang="en-US"/>
                        <a:t> – Job seekers may have difficulty finding jobs that match their skills.</a:t>
                      </a:r>
                    </a:p>
                  </a:txBody>
                  <a:tcPr anchor="ctr">
                    <a:lnL>
                      <a:noFill/>
                    </a:lnL>
                    <a:lnR>
                      <a:noFill/>
                    </a:lnR>
                    <a:lnT>
                      <a:noFill/>
                    </a:lnT>
                    <a:lnB>
                      <a:noFill/>
                    </a:lnB>
                    <a:noFill/>
                  </a:tcPr>
                </a:tc>
                <a:tc>
                  <a:txBody>
                    <a:bodyPr/>
                    <a:lstStyle/>
                    <a:p>
                      <a:pPr>
                        <a:buNone/>
                      </a:pPr>
                      <a:r>
                        <a:rPr lang="en-US" b="1"/>
                        <a:t>Personalized Job Recommendations</a:t>
                      </a:r>
                      <a:r>
                        <a:rPr lang="en-US"/>
                        <a:t> – The system suggests jobs based on the candidate’s profile and skills.</a:t>
                      </a:r>
                    </a:p>
                  </a:txBody>
                  <a:tcPr anchor="ctr">
                    <a:lnL>
                      <a:noFill/>
                    </a:lnL>
                    <a:lnR>
                      <a:noFill/>
                    </a:lnR>
                    <a:lnT>
                      <a:noFill/>
                    </a:lnT>
                    <a:lnB>
                      <a:noFill/>
                    </a:lnB>
                    <a:noFill/>
                  </a:tcPr>
                </a:tc>
                <a:extLst>
                  <a:ext uri="{0D108BD9-81ED-4DB2-BD59-A6C34878D82A}">
                    <a16:rowId xmlns:a16="http://schemas.microsoft.com/office/drawing/2014/main" val="3962792402"/>
                  </a:ext>
                </a:extLst>
              </a:tr>
              <a:tr h="0">
                <a:tc>
                  <a:txBody>
                    <a:bodyPr/>
                    <a:lstStyle/>
                    <a:p>
                      <a:pPr>
                        <a:buNone/>
                      </a:pPr>
                      <a:r>
                        <a:rPr lang="en-US" b="1"/>
                        <a:t>Slow Candidate Shortlisting</a:t>
                      </a:r>
                      <a:r>
                        <a:rPr lang="en-US"/>
                        <a:t> – Recruiters need more time to identify suitable applicants from many resumes.</a:t>
                      </a:r>
                    </a:p>
                  </a:txBody>
                  <a:tcPr anchor="ctr">
                    <a:lnL>
                      <a:noFill/>
                    </a:lnL>
                    <a:lnR>
                      <a:noFill/>
                    </a:lnR>
                    <a:lnT>
                      <a:noFill/>
                    </a:lnT>
                    <a:lnB>
                      <a:noFill/>
                    </a:lnB>
                    <a:noFill/>
                  </a:tcPr>
                </a:tc>
                <a:tc>
                  <a:txBody>
                    <a:bodyPr/>
                    <a:lstStyle/>
                    <a:p>
                      <a:pPr>
                        <a:buNone/>
                      </a:pPr>
                      <a:r>
                        <a:rPr lang="en-US" b="1" dirty="0"/>
                        <a:t>Candidate Ranking</a:t>
                      </a:r>
                      <a:r>
                        <a:rPr lang="en-US" dirty="0"/>
                        <a:t> – Candidates are ranked using a matching score, making shortlisting faster.</a:t>
                      </a:r>
                    </a:p>
                  </a:txBody>
                  <a:tcPr anchor="ctr">
                    <a:lnL>
                      <a:noFill/>
                    </a:lnL>
                    <a:lnR>
                      <a:noFill/>
                    </a:lnR>
                    <a:lnT>
                      <a:noFill/>
                    </a:lnT>
                    <a:lnB>
                      <a:noFill/>
                    </a:lnB>
                    <a:noFill/>
                  </a:tcPr>
                </a:tc>
                <a:extLst>
                  <a:ext uri="{0D108BD9-81ED-4DB2-BD59-A6C34878D82A}">
                    <a16:rowId xmlns:a16="http://schemas.microsoft.com/office/drawing/2014/main" val="382090106"/>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A"/>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9144000" cy="594360"/>
          </a:xfrm>
          <a:prstGeom prst="rect">
            <a:avLst/>
          </a:prstGeom>
          <a:noFill/>
          <a:ln/>
        </p:spPr>
        <p:txBody>
          <a:bodyPr wrap="square" lIns="0" tIns="0" rIns="0" bIns="0" rtlCol="0" anchor="ctr"/>
          <a:lstStyle/>
          <a:p>
            <a:pPr marL="0" indent="0">
              <a:buNone/>
            </a:pPr>
            <a:r>
              <a:rPr lang="en-US" sz="3000" b="1" dirty="0">
                <a:solidFill>
                  <a:srgbClr val="028090"/>
                </a:solidFill>
                <a:latin typeface="Cambria" pitchFamily="34" charset="0"/>
                <a:ea typeface="Cambria" pitchFamily="34" charset="-122"/>
                <a:cs typeface="Cambria" pitchFamily="34" charset="-120"/>
              </a:rPr>
              <a:t>Proposed System Architecture</a:t>
            </a:r>
            <a:endParaRPr lang="en-US" sz="3000" dirty="0"/>
          </a:p>
        </p:txBody>
      </p:sp>
      <p:sp>
        <p:nvSpPr>
          <p:cNvPr id="3" name="Shape 1"/>
          <p:cNvSpPr/>
          <p:nvPr/>
        </p:nvSpPr>
        <p:spPr>
          <a:xfrm>
            <a:off x="2139696" y="1463040"/>
            <a:ext cx="2331720" cy="868680"/>
          </a:xfrm>
          <a:prstGeom prst="roundRect">
            <a:avLst>
              <a:gd name="adj" fmla="val 10526"/>
            </a:avLst>
          </a:prstGeom>
          <a:solidFill>
            <a:srgbClr val="FFFFFF"/>
          </a:solidFill>
          <a:ln w="25400">
            <a:solidFill>
              <a:srgbClr val="028090"/>
            </a:solidFill>
            <a:prstDash val="solid"/>
          </a:ln>
          <a:effectLst>
            <a:outerShdw blurRad="76200" dist="25400" dir="5400000" algn="bl" rotWithShape="0">
              <a:srgbClr val="000000">
                <a:alpha val="10000"/>
              </a:srgbClr>
            </a:outerShdw>
          </a:effectLst>
        </p:spPr>
      </p:sp>
      <p:sp>
        <p:nvSpPr>
          <p:cNvPr id="4" name="Text 2"/>
          <p:cNvSpPr txBox="1"/>
          <p:nvPr/>
        </p:nvSpPr>
        <p:spPr>
          <a:xfrm>
            <a:off x="2231136" y="1572768"/>
            <a:ext cx="2148840" cy="365760"/>
          </a:xfrm>
          <a:prstGeom prst="rect">
            <a:avLst/>
          </a:prstGeom>
          <a:noFill/>
          <a:ln/>
        </p:spPr>
        <p:txBody>
          <a:bodyPr wrap="square" lIns="0" tIns="0" rIns="0" bIns="0" rtlCol="0" anchor="ctr"/>
          <a:lstStyle/>
          <a:p>
            <a:pPr marL="0" indent="0" algn="ctr">
              <a:buNone/>
            </a:pPr>
            <a:r>
              <a:rPr lang="en-US" sz="1300" b="1" dirty="0">
                <a:solidFill>
                  <a:srgbClr val="16302F"/>
                </a:solidFill>
                <a:latin typeface="Calibri" pitchFamily="34" charset="0"/>
                <a:ea typeface="Calibri" pitchFamily="34" charset="-122"/>
                <a:cs typeface="Calibri" pitchFamily="34" charset="-120"/>
              </a:rPr>
              <a:t>Job Seekers</a:t>
            </a:r>
            <a:endParaRPr lang="en-US" sz="1300" dirty="0"/>
          </a:p>
        </p:txBody>
      </p:sp>
      <p:sp>
        <p:nvSpPr>
          <p:cNvPr id="5" name="Text 3"/>
          <p:cNvSpPr txBox="1"/>
          <p:nvPr/>
        </p:nvSpPr>
        <p:spPr>
          <a:xfrm>
            <a:off x="2231136" y="1920240"/>
            <a:ext cx="2148840" cy="365760"/>
          </a:xfrm>
          <a:prstGeom prst="rect">
            <a:avLst/>
          </a:prstGeom>
          <a:noFill/>
          <a:ln/>
        </p:spPr>
        <p:txBody>
          <a:bodyPr wrap="square" lIns="0" tIns="0" rIns="0" bIns="0" rtlCol="0" anchor="ctr"/>
          <a:lstStyle/>
          <a:p>
            <a:pPr marL="0" indent="0" algn="ctr">
              <a:buNone/>
            </a:pPr>
            <a:r>
              <a:rPr lang="en-US" sz="1000" dirty="0">
                <a:solidFill>
                  <a:srgbClr val="6B7B79"/>
                </a:solidFill>
                <a:latin typeface="Calibri" pitchFamily="34" charset="0"/>
                <a:ea typeface="Calibri" pitchFamily="34" charset="-122"/>
                <a:cs typeface="Calibri" pitchFamily="34" charset="-120"/>
              </a:rPr>
              <a:t>Profile &amp; resume upload</a:t>
            </a:r>
            <a:endParaRPr lang="en-US" sz="1000" dirty="0"/>
          </a:p>
        </p:txBody>
      </p:sp>
      <p:sp>
        <p:nvSpPr>
          <p:cNvPr id="6" name="Shape 4"/>
          <p:cNvSpPr/>
          <p:nvPr/>
        </p:nvSpPr>
        <p:spPr>
          <a:xfrm>
            <a:off x="4928616" y="1463040"/>
            <a:ext cx="2331720" cy="868680"/>
          </a:xfrm>
          <a:prstGeom prst="roundRect">
            <a:avLst>
              <a:gd name="adj" fmla="val 10526"/>
            </a:avLst>
          </a:prstGeom>
          <a:solidFill>
            <a:srgbClr val="FFFFFF"/>
          </a:solidFill>
          <a:ln w="25400">
            <a:solidFill>
              <a:srgbClr val="028090"/>
            </a:solidFill>
            <a:prstDash val="solid"/>
          </a:ln>
          <a:effectLst>
            <a:outerShdw blurRad="76200" dist="25400" dir="5400000" algn="bl" rotWithShape="0">
              <a:srgbClr val="000000">
                <a:alpha val="10000"/>
              </a:srgbClr>
            </a:outerShdw>
          </a:effectLst>
        </p:spPr>
      </p:sp>
      <p:sp>
        <p:nvSpPr>
          <p:cNvPr id="7" name="Text 5"/>
          <p:cNvSpPr txBox="1"/>
          <p:nvPr/>
        </p:nvSpPr>
        <p:spPr>
          <a:xfrm>
            <a:off x="5020056" y="1572768"/>
            <a:ext cx="2148840" cy="365760"/>
          </a:xfrm>
          <a:prstGeom prst="rect">
            <a:avLst/>
          </a:prstGeom>
          <a:noFill/>
          <a:ln/>
        </p:spPr>
        <p:txBody>
          <a:bodyPr wrap="square" lIns="0" tIns="0" rIns="0" bIns="0" rtlCol="0" anchor="ctr"/>
          <a:lstStyle/>
          <a:p>
            <a:pPr marL="0" indent="0" algn="ctr">
              <a:buNone/>
            </a:pPr>
            <a:r>
              <a:rPr lang="en-US" sz="1300" b="1" dirty="0">
                <a:solidFill>
                  <a:srgbClr val="16302F"/>
                </a:solidFill>
                <a:latin typeface="Calibri" pitchFamily="34" charset="0"/>
                <a:ea typeface="Calibri" pitchFamily="34" charset="-122"/>
                <a:cs typeface="Calibri" pitchFamily="34" charset="-120"/>
              </a:rPr>
              <a:t>Employers</a:t>
            </a:r>
            <a:endParaRPr lang="en-US" sz="1300" dirty="0"/>
          </a:p>
        </p:txBody>
      </p:sp>
      <p:sp>
        <p:nvSpPr>
          <p:cNvPr id="8" name="Text 6"/>
          <p:cNvSpPr txBox="1"/>
          <p:nvPr/>
        </p:nvSpPr>
        <p:spPr>
          <a:xfrm>
            <a:off x="5020056" y="1920240"/>
            <a:ext cx="2148840" cy="365760"/>
          </a:xfrm>
          <a:prstGeom prst="rect">
            <a:avLst/>
          </a:prstGeom>
          <a:noFill/>
          <a:ln/>
        </p:spPr>
        <p:txBody>
          <a:bodyPr wrap="square" lIns="0" tIns="0" rIns="0" bIns="0" rtlCol="0" anchor="ctr"/>
          <a:lstStyle/>
          <a:p>
            <a:pPr marL="0" indent="0" algn="ctr">
              <a:buNone/>
            </a:pPr>
            <a:r>
              <a:rPr lang="en-US" sz="1000" dirty="0">
                <a:solidFill>
                  <a:srgbClr val="6B7B79"/>
                </a:solidFill>
                <a:latin typeface="Calibri" pitchFamily="34" charset="0"/>
                <a:ea typeface="Calibri" pitchFamily="34" charset="-122"/>
                <a:cs typeface="Calibri" pitchFamily="34" charset="-120"/>
              </a:rPr>
              <a:t>Post job vacancies</a:t>
            </a:r>
            <a:endParaRPr lang="en-US" sz="1000" dirty="0"/>
          </a:p>
        </p:txBody>
      </p:sp>
      <p:sp>
        <p:nvSpPr>
          <p:cNvPr id="9" name="Shape 7"/>
          <p:cNvSpPr/>
          <p:nvPr/>
        </p:nvSpPr>
        <p:spPr>
          <a:xfrm>
            <a:off x="7717536" y="1463040"/>
            <a:ext cx="2331720" cy="868680"/>
          </a:xfrm>
          <a:prstGeom prst="roundRect">
            <a:avLst>
              <a:gd name="adj" fmla="val 10526"/>
            </a:avLst>
          </a:prstGeom>
          <a:solidFill>
            <a:srgbClr val="FFFFFF"/>
          </a:solidFill>
          <a:ln w="25400">
            <a:solidFill>
              <a:srgbClr val="00A896"/>
            </a:solidFill>
            <a:prstDash val="solid"/>
          </a:ln>
          <a:effectLst>
            <a:outerShdw blurRad="76200" dist="25400" dir="5400000" algn="bl" rotWithShape="0">
              <a:srgbClr val="000000">
                <a:alpha val="10000"/>
              </a:srgbClr>
            </a:outerShdw>
          </a:effectLst>
        </p:spPr>
      </p:sp>
      <p:sp>
        <p:nvSpPr>
          <p:cNvPr id="10" name="Text 8"/>
          <p:cNvSpPr txBox="1"/>
          <p:nvPr/>
        </p:nvSpPr>
        <p:spPr>
          <a:xfrm>
            <a:off x="7808976" y="1572768"/>
            <a:ext cx="2148840" cy="365760"/>
          </a:xfrm>
          <a:prstGeom prst="rect">
            <a:avLst/>
          </a:prstGeom>
          <a:noFill/>
          <a:ln/>
        </p:spPr>
        <p:txBody>
          <a:bodyPr wrap="square" lIns="0" tIns="0" rIns="0" bIns="0" rtlCol="0" anchor="ctr"/>
          <a:lstStyle/>
          <a:p>
            <a:pPr marL="0" indent="0" algn="ctr">
              <a:buNone/>
            </a:pPr>
            <a:r>
              <a:rPr lang="en-US" sz="1300" b="1" dirty="0">
                <a:solidFill>
                  <a:srgbClr val="16302F"/>
                </a:solidFill>
                <a:latin typeface="Calibri" pitchFamily="34" charset="0"/>
                <a:ea typeface="Calibri" pitchFamily="34" charset="-122"/>
                <a:cs typeface="Calibri" pitchFamily="34" charset="-120"/>
              </a:rPr>
              <a:t>Web Frontend</a:t>
            </a:r>
            <a:endParaRPr lang="en-US" sz="1300" dirty="0"/>
          </a:p>
        </p:txBody>
      </p:sp>
      <p:sp>
        <p:nvSpPr>
          <p:cNvPr id="11" name="Text 9"/>
          <p:cNvSpPr txBox="1"/>
          <p:nvPr/>
        </p:nvSpPr>
        <p:spPr>
          <a:xfrm>
            <a:off x="7808976" y="1920240"/>
            <a:ext cx="2148840" cy="365760"/>
          </a:xfrm>
          <a:prstGeom prst="rect">
            <a:avLst/>
          </a:prstGeom>
          <a:noFill/>
          <a:ln/>
        </p:spPr>
        <p:txBody>
          <a:bodyPr wrap="square" lIns="0" tIns="0" rIns="0" bIns="0" rtlCol="0" anchor="ctr"/>
          <a:lstStyle/>
          <a:p>
            <a:pPr marL="0" indent="0" algn="ctr">
              <a:buNone/>
            </a:pPr>
            <a:r>
              <a:rPr lang="en-US" sz="1000" dirty="0">
                <a:solidFill>
                  <a:srgbClr val="6B7B79"/>
                </a:solidFill>
                <a:latin typeface="Calibri" pitchFamily="34" charset="0"/>
                <a:ea typeface="Calibri" pitchFamily="34" charset="-122"/>
                <a:cs typeface="Calibri" pitchFamily="34" charset="-120"/>
              </a:rPr>
              <a:t>HTML, CSS, JS, Bootstrap</a:t>
            </a:r>
            <a:endParaRPr lang="en-US" sz="1000" dirty="0"/>
          </a:p>
        </p:txBody>
      </p:sp>
      <p:sp>
        <p:nvSpPr>
          <p:cNvPr id="12" name="Shape 10"/>
          <p:cNvSpPr/>
          <p:nvPr/>
        </p:nvSpPr>
        <p:spPr>
          <a:xfrm>
            <a:off x="3305556" y="2331720"/>
            <a:ext cx="0" cy="365760"/>
          </a:xfrm>
          <a:prstGeom prst="line">
            <a:avLst/>
          </a:prstGeom>
          <a:noFill/>
          <a:ln w="25400">
            <a:solidFill>
              <a:srgbClr val="00A896"/>
            </a:solidFill>
            <a:prstDash val="solid"/>
            <a:tailEnd type="triangle"/>
          </a:ln>
        </p:spPr>
      </p:sp>
      <p:sp>
        <p:nvSpPr>
          <p:cNvPr id="13" name="Shape 11"/>
          <p:cNvSpPr/>
          <p:nvPr/>
        </p:nvSpPr>
        <p:spPr>
          <a:xfrm>
            <a:off x="6094476" y="2331720"/>
            <a:ext cx="0" cy="365760"/>
          </a:xfrm>
          <a:prstGeom prst="line">
            <a:avLst/>
          </a:prstGeom>
          <a:noFill/>
          <a:ln w="25400">
            <a:solidFill>
              <a:srgbClr val="00A896"/>
            </a:solidFill>
            <a:prstDash val="solid"/>
            <a:tailEnd type="triangle"/>
          </a:ln>
        </p:spPr>
      </p:sp>
      <p:sp>
        <p:nvSpPr>
          <p:cNvPr id="14" name="Shape 12"/>
          <p:cNvSpPr/>
          <p:nvPr/>
        </p:nvSpPr>
        <p:spPr>
          <a:xfrm>
            <a:off x="8883396" y="2331720"/>
            <a:ext cx="0" cy="365760"/>
          </a:xfrm>
          <a:prstGeom prst="line">
            <a:avLst/>
          </a:prstGeom>
          <a:noFill/>
          <a:ln w="25400">
            <a:solidFill>
              <a:srgbClr val="00A896"/>
            </a:solidFill>
            <a:prstDash val="solid"/>
            <a:tailEnd type="triangle"/>
          </a:ln>
        </p:spPr>
      </p:sp>
      <p:sp>
        <p:nvSpPr>
          <p:cNvPr id="15" name="Shape 13"/>
          <p:cNvSpPr/>
          <p:nvPr/>
        </p:nvSpPr>
        <p:spPr>
          <a:xfrm>
            <a:off x="2139696" y="2697480"/>
            <a:ext cx="7909560" cy="868680"/>
          </a:xfrm>
          <a:prstGeom prst="roundRect">
            <a:avLst>
              <a:gd name="adj" fmla="val 10526"/>
            </a:avLst>
          </a:prstGeom>
          <a:solidFill>
            <a:srgbClr val="028090"/>
          </a:solidFill>
          <a:ln/>
          <a:effectLst>
            <a:outerShdw blurRad="76200" dist="25400" dir="5400000" algn="bl" rotWithShape="0">
              <a:srgbClr val="000000">
                <a:alpha val="15000"/>
              </a:srgbClr>
            </a:outerShdw>
          </a:effectLst>
        </p:spPr>
      </p:sp>
      <p:sp>
        <p:nvSpPr>
          <p:cNvPr id="16" name="Text 14"/>
          <p:cNvSpPr txBox="1"/>
          <p:nvPr/>
        </p:nvSpPr>
        <p:spPr>
          <a:xfrm>
            <a:off x="2139696" y="2807208"/>
            <a:ext cx="79095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Application Backend  (Python, Flask)</a:t>
            </a:r>
            <a:endParaRPr lang="en-US" sz="1400" dirty="0"/>
          </a:p>
        </p:txBody>
      </p:sp>
      <p:sp>
        <p:nvSpPr>
          <p:cNvPr id="17" name="Text 15"/>
          <p:cNvSpPr txBox="1"/>
          <p:nvPr/>
        </p:nvSpPr>
        <p:spPr>
          <a:xfrm>
            <a:off x="2139696" y="3154680"/>
            <a:ext cx="7909560" cy="320040"/>
          </a:xfrm>
          <a:prstGeom prst="rect">
            <a:avLst/>
          </a:prstGeom>
          <a:noFill/>
          <a:ln/>
        </p:spPr>
        <p:txBody>
          <a:bodyPr wrap="square" lIns="0" tIns="0" rIns="0" bIns="0" rtlCol="0" anchor="ctr"/>
          <a:lstStyle/>
          <a:p>
            <a:pPr marL="0" indent="0" algn="ctr">
              <a:buNone/>
            </a:pPr>
            <a:r>
              <a:rPr lang="en-US" sz="1050" dirty="0">
                <a:solidFill>
                  <a:srgbClr val="CFE8E4"/>
                </a:solidFill>
                <a:latin typeface="Calibri" pitchFamily="34" charset="0"/>
                <a:ea typeface="Calibri" pitchFamily="34" charset="-122"/>
                <a:cs typeface="Calibri" pitchFamily="34" charset="-120"/>
              </a:rPr>
              <a:t>Routes requests between the frontend, processing modules, and database</a:t>
            </a:r>
            <a:endParaRPr lang="en-US" sz="1050" dirty="0"/>
          </a:p>
        </p:txBody>
      </p:sp>
      <p:sp>
        <p:nvSpPr>
          <p:cNvPr id="18" name="Shape 16"/>
          <p:cNvSpPr/>
          <p:nvPr/>
        </p:nvSpPr>
        <p:spPr>
          <a:xfrm>
            <a:off x="3305556" y="3566160"/>
            <a:ext cx="0" cy="365760"/>
          </a:xfrm>
          <a:prstGeom prst="line">
            <a:avLst/>
          </a:prstGeom>
          <a:noFill/>
          <a:ln w="25400">
            <a:solidFill>
              <a:srgbClr val="00A896"/>
            </a:solidFill>
            <a:prstDash val="solid"/>
            <a:tailEnd type="triangle"/>
          </a:ln>
        </p:spPr>
      </p:sp>
      <p:sp>
        <p:nvSpPr>
          <p:cNvPr id="19" name="Shape 17"/>
          <p:cNvSpPr/>
          <p:nvPr/>
        </p:nvSpPr>
        <p:spPr>
          <a:xfrm>
            <a:off x="6094476" y="3566160"/>
            <a:ext cx="0" cy="365760"/>
          </a:xfrm>
          <a:prstGeom prst="line">
            <a:avLst/>
          </a:prstGeom>
          <a:noFill/>
          <a:ln w="25400">
            <a:solidFill>
              <a:srgbClr val="00A896"/>
            </a:solidFill>
            <a:prstDash val="solid"/>
            <a:tailEnd type="triangle"/>
          </a:ln>
        </p:spPr>
      </p:sp>
      <p:sp>
        <p:nvSpPr>
          <p:cNvPr id="20" name="Shape 18"/>
          <p:cNvSpPr/>
          <p:nvPr/>
        </p:nvSpPr>
        <p:spPr>
          <a:xfrm>
            <a:off x="8883396" y="3566160"/>
            <a:ext cx="0" cy="365760"/>
          </a:xfrm>
          <a:prstGeom prst="line">
            <a:avLst/>
          </a:prstGeom>
          <a:noFill/>
          <a:ln w="25400">
            <a:solidFill>
              <a:srgbClr val="00A896"/>
            </a:solidFill>
            <a:prstDash val="solid"/>
            <a:tailEnd type="triangle"/>
          </a:ln>
        </p:spPr>
      </p:sp>
      <p:sp>
        <p:nvSpPr>
          <p:cNvPr id="21" name="Shape 19"/>
          <p:cNvSpPr/>
          <p:nvPr/>
        </p:nvSpPr>
        <p:spPr>
          <a:xfrm>
            <a:off x="2139696" y="3931920"/>
            <a:ext cx="2331720" cy="868680"/>
          </a:xfrm>
          <a:prstGeom prst="roundRect">
            <a:avLst>
              <a:gd name="adj" fmla="val 10526"/>
            </a:avLst>
          </a:prstGeom>
          <a:solidFill>
            <a:srgbClr val="FFFFFF"/>
          </a:solidFill>
          <a:ln w="25400">
            <a:solidFill>
              <a:srgbClr val="02C39A"/>
            </a:solidFill>
            <a:prstDash val="solid"/>
          </a:ln>
          <a:effectLst>
            <a:outerShdw blurRad="76200" dist="25400" dir="5400000" algn="bl" rotWithShape="0">
              <a:srgbClr val="000000">
                <a:alpha val="10000"/>
              </a:srgbClr>
            </a:outerShdw>
          </a:effectLst>
        </p:spPr>
      </p:sp>
      <p:sp>
        <p:nvSpPr>
          <p:cNvPr id="22" name="Text 20"/>
          <p:cNvSpPr txBox="1"/>
          <p:nvPr/>
        </p:nvSpPr>
        <p:spPr>
          <a:xfrm>
            <a:off x="2231136" y="4041648"/>
            <a:ext cx="2148840" cy="365760"/>
          </a:xfrm>
          <a:prstGeom prst="rect">
            <a:avLst/>
          </a:prstGeom>
          <a:noFill/>
          <a:ln/>
        </p:spPr>
        <p:txBody>
          <a:bodyPr wrap="square" lIns="0" tIns="0" rIns="0" bIns="0" rtlCol="0" anchor="ctr"/>
          <a:lstStyle/>
          <a:p>
            <a:pPr marL="0" indent="0" algn="ctr">
              <a:buNone/>
            </a:pPr>
            <a:r>
              <a:rPr lang="en-US" sz="1300" b="1" dirty="0">
                <a:solidFill>
                  <a:srgbClr val="16302F"/>
                </a:solidFill>
                <a:latin typeface="Calibri" pitchFamily="34" charset="0"/>
                <a:ea typeface="Calibri" pitchFamily="34" charset="-122"/>
                <a:cs typeface="Calibri" pitchFamily="34" charset="-120"/>
              </a:rPr>
              <a:t>Resume Parser</a:t>
            </a:r>
            <a:endParaRPr lang="en-US" sz="1300" dirty="0"/>
          </a:p>
        </p:txBody>
      </p:sp>
      <p:sp>
        <p:nvSpPr>
          <p:cNvPr id="23" name="Text 21"/>
          <p:cNvSpPr txBox="1"/>
          <p:nvPr/>
        </p:nvSpPr>
        <p:spPr>
          <a:xfrm>
            <a:off x="2231136" y="4389120"/>
            <a:ext cx="2148840" cy="365760"/>
          </a:xfrm>
          <a:prstGeom prst="rect">
            <a:avLst/>
          </a:prstGeom>
          <a:noFill/>
          <a:ln/>
        </p:spPr>
        <p:txBody>
          <a:bodyPr wrap="square" lIns="0" tIns="0" rIns="0" bIns="0" rtlCol="0" anchor="ctr"/>
          <a:lstStyle/>
          <a:p>
            <a:pPr marL="0" indent="0" algn="ctr">
              <a:buNone/>
            </a:pPr>
            <a:r>
              <a:rPr lang="en-US" sz="1000" dirty="0">
                <a:solidFill>
                  <a:srgbClr val="6B7B79"/>
                </a:solidFill>
                <a:latin typeface="Calibri" pitchFamily="34" charset="0"/>
                <a:ea typeface="Calibri" pitchFamily="34" charset="-122"/>
                <a:cs typeface="Calibri" pitchFamily="34" charset="-120"/>
              </a:rPr>
              <a:t>PyPDF2, python-docx</a:t>
            </a:r>
            <a:endParaRPr lang="en-US" sz="1000" dirty="0"/>
          </a:p>
        </p:txBody>
      </p:sp>
      <p:sp>
        <p:nvSpPr>
          <p:cNvPr id="24" name="Shape 22"/>
          <p:cNvSpPr/>
          <p:nvPr/>
        </p:nvSpPr>
        <p:spPr>
          <a:xfrm>
            <a:off x="4928616" y="3931920"/>
            <a:ext cx="2331720" cy="868680"/>
          </a:xfrm>
          <a:prstGeom prst="roundRect">
            <a:avLst>
              <a:gd name="adj" fmla="val 10526"/>
            </a:avLst>
          </a:prstGeom>
          <a:solidFill>
            <a:srgbClr val="FFFFFF"/>
          </a:solidFill>
          <a:ln w="25400">
            <a:solidFill>
              <a:srgbClr val="02C39A"/>
            </a:solidFill>
            <a:prstDash val="solid"/>
          </a:ln>
          <a:effectLst>
            <a:outerShdw blurRad="76200" dist="25400" dir="5400000" algn="bl" rotWithShape="0">
              <a:srgbClr val="000000">
                <a:alpha val="10000"/>
              </a:srgbClr>
            </a:outerShdw>
          </a:effectLst>
        </p:spPr>
      </p:sp>
      <p:sp>
        <p:nvSpPr>
          <p:cNvPr id="25" name="Text 23"/>
          <p:cNvSpPr txBox="1"/>
          <p:nvPr/>
        </p:nvSpPr>
        <p:spPr>
          <a:xfrm>
            <a:off x="5020056" y="4041648"/>
            <a:ext cx="2148840" cy="365760"/>
          </a:xfrm>
          <a:prstGeom prst="rect">
            <a:avLst/>
          </a:prstGeom>
          <a:noFill/>
          <a:ln/>
        </p:spPr>
        <p:txBody>
          <a:bodyPr wrap="square" lIns="0" tIns="0" rIns="0" bIns="0" rtlCol="0" anchor="ctr"/>
          <a:lstStyle/>
          <a:p>
            <a:pPr marL="0" indent="0" algn="ctr">
              <a:buNone/>
            </a:pPr>
            <a:r>
              <a:rPr lang="en-US" sz="1300" b="1" dirty="0">
                <a:solidFill>
                  <a:srgbClr val="16302F"/>
                </a:solidFill>
                <a:latin typeface="Calibri" pitchFamily="34" charset="0"/>
                <a:ea typeface="Calibri" pitchFamily="34" charset="-122"/>
                <a:cs typeface="Calibri" pitchFamily="34" charset="-120"/>
              </a:rPr>
              <a:t>Matching Engine</a:t>
            </a:r>
            <a:endParaRPr lang="en-US" sz="1300" dirty="0"/>
          </a:p>
        </p:txBody>
      </p:sp>
      <p:sp>
        <p:nvSpPr>
          <p:cNvPr id="26" name="Text 24"/>
          <p:cNvSpPr txBox="1"/>
          <p:nvPr/>
        </p:nvSpPr>
        <p:spPr>
          <a:xfrm>
            <a:off x="5020056" y="4389120"/>
            <a:ext cx="2148840" cy="365760"/>
          </a:xfrm>
          <a:prstGeom prst="rect">
            <a:avLst/>
          </a:prstGeom>
          <a:noFill/>
          <a:ln/>
        </p:spPr>
        <p:txBody>
          <a:bodyPr wrap="square" lIns="0" tIns="0" rIns="0" bIns="0" rtlCol="0" anchor="ctr"/>
          <a:lstStyle/>
          <a:p>
            <a:pPr marL="0" indent="0" algn="ctr">
              <a:buNone/>
            </a:pPr>
            <a:r>
              <a:rPr lang="en-US" sz="1000" dirty="0">
                <a:solidFill>
                  <a:srgbClr val="6B7B79"/>
                </a:solidFill>
                <a:latin typeface="Calibri" pitchFamily="34" charset="0"/>
                <a:ea typeface="Calibri" pitchFamily="34" charset="-122"/>
                <a:cs typeface="Calibri" pitchFamily="34" charset="-120"/>
              </a:rPr>
              <a:t>Scikit-learn scoring</a:t>
            </a:r>
            <a:endParaRPr lang="en-US" sz="1000" dirty="0"/>
          </a:p>
        </p:txBody>
      </p:sp>
      <p:sp>
        <p:nvSpPr>
          <p:cNvPr id="27" name="Shape 25"/>
          <p:cNvSpPr/>
          <p:nvPr/>
        </p:nvSpPr>
        <p:spPr>
          <a:xfrm>
            <a:off x="7717536" y="3931920"/>
            <a:ext cx="2331720" cy="868680"/>
          </a:xfrm>
          <a:prstGeom prst="roundRect">
            <a:avLst>
              <a:gd name="adj" fmla="val 10526"/>
            </a:avLst>
          </a:prstGeom>
          <a:solidFill>
            <a:srgbClr val="FFFFFF"/>
          </a:solidFill>
          <a:ln w="25400">
            <a:solidFill>
              <a:srgbClr val="02C39A"/>
            </a:solidFill>
            <a:prstDash val="solid"/>
          </a:ln>
          <a:effectLst>
            <a:outerShdw blurRad="76200" dist="25400" dir="5400000" algn="bl" rotWithShape="0">
              <a:srgbClr val="000000">
                <a:alpha val="10000"/>
              </a:srgbClr>
            </a:outerShdw>
          </a:effectLst>
        </p:spPr>
      </p:sp>
      <p:sp>
        <p:nvSpPr>
          <p:cNvPr id="28" name="Text 26"/>
          <p:cNvSpPr txBox="1"/>
          <p:nvPr/>
        </p:nvSpPr>
        <p:spPr>
          <a:xfrm>
            <a:off x="7808976" y="4041648"/>
            <a:ext cx="2148840" cy="365760"/>
          </a:xfrm>
          <a:prstGeom prst="rect">
            <a:avLst/>
          </a:prstGeom>
          <a:noFill/>
          <a:ln/>
        </p:spPr>
        <p:txBody>
          <a:bodyPr wrap="square" lIns="0" tIns="0" rIns="0" bIns="0" rtlCol="0" anchor="ctr"/>
          <a:lstStyle/>
          <a:p>
            <a:pPr marL="0" indent="0" algn="ctr">
              <a:buNone/>
            </a:pPr>
            <a:r>
              <a:rPr lang="en-US" sz="1300" b="1" dirty="0">
                <a:solidFill>
                  <a:srgbClr val="16302F"/>
                </a:solidFill>
                <a:latin typeface="Calibri" pitchFamily="34" charset="0"/>
                <a:ea typeface="Calibri" pitchFamily="34" charset="-122"/>
                <a:cs typeface="Calibri" pitchFamily="34" charset="-120"/>
              </a:rPr>
              <a:t>Recommendations</a:t>
            </a:r>
            <a:endParaRPr lang="en-US" sz="1300" dirty="0"/>
          </a:p>
        </p:txBody>
      </p:sp>
      <p:sp>
        <p:nvSpPr>
          <p:cNvPr id="29" name="Text 27"/>
          <p:cNvSpPr txBox="1"/>
          <p:nvPr/>
        </p:nvSpPr>
        <p:spPr>
          <a:xfrm>
            <a:off x="7808976" y="4389120"/>
            <a:ext cx="2148840" cy="365760"/>
          </a:xfrm>
          <a:prstGeom prst="rect">
            <a:avLst/>
          </a:prstGeom>
          <a:noFill/>
          <a:ln/>
        </p:spPr>
        <p:txBody>
          <a:bodyPr wrap="square" lIns="0" tIns="0" rIns="0" bIns="0" rtlCol="0" anchor="ctr"/>
          <a:lstStyle/>
          <a:p>
            <a:pPr marL="0" indent="0" algn="ctr">
              <a:buNone/>
            </a:pPr>
            <a:r>
              <a:rPr lang="en-US" sz="1000" dirty="0">
                <a:solidFill>
                  <a:srgbClr val="6B7B79"/>
                </a:solidFill>
                <a:latin typeface="Calibri" pitchFamily="34" charset="0"/>
                <a:ea typeface="Calibri" pitchFamily="34" charset="-122"/>
                <a:cs typeface="Calibri" pitchFamily="34" charset="-120"/>
              </a:rPr>
              <a:t>Personalized job feed</a:t>
            </a:r>
            <a:endParaRPr lang="en-US" sz="1000" dirty="0"/>
          </a:p>
        </p:txBody>
      </p:sp>
      <p:sp>
        <p:nvSpPr>
          <p:cNvPr id="30" name="Shape 28"/>
          <p:cNvSpPr/>
          <p:nvPr/>
        </p:nvSpPr>
        <p:spPr>
          <a:xfrm>
            <a:off x="3305556" y="4800600"/>
            <a:ext cx="0" cy="365760"/>
          </a:xfrm>
          <a:prstGeom prst="line">
            <a:avLst/>
          </a:prstGeom>
          <a:noFill/>
          <a:ln w="25400">
            <a:solidFill>
              <a:srgbClr val="00A896"/>
            </a:solidFill>
            <a:prstDash val="solid"/>
            <a:tailEnd type="triangle"/>
          </a:ln>
        </p:spPr>
      </p:sp>
      <p:sp>
        <p:nvSpPr>
          <p:cNvPr id="31" name="Shape 29"/>
          <p:cNvSpPr/>
          <p:nvPr/>
        </p:nvSpPr>
        <p:spPr>
          <a:xfrm>
            <a:off x="6094476" y="4800600"/>
            <a:ext cx="0" cy="365760"/>
          </a:xfrm>
          <a:prstGeom prst="line">
            <a:avLst/>
          </a:prstGeom>
          <a:noFill/>
          <a:ln w="25400">
            <a:solidFill>
              <a:srgbClr val="00A896"/>
            </a:solidFill>
            <a:prstDash val="solid"/>
            <a:tailEnd type="triangle"/>
          </a:ln>
        </p:spPr>
      </p:sp>
      <p:sp>
        <p:nvSpPr>
          <p:cNvPr id="32" name="Shape 30"/>
          <p:cNvSpPr/>
          <p:nvPr/>
        </p:nvSpPr>
        <p:spPr>
          <a:xfrm>
            <a:off x="8883396" y="4800600"/>
            <a:ext cx="0" cy="365760"/>
          </a:xfrm>
          <a:prstGeom prst="line">
            <a:avLst/>
          </a:prstGeom>
          <a:noFill/>
          <a:ln w="25400">
            <a:solidFill>
              <a:srgbClr val="00A896"/>
            </a:solidFill>
            <a:prstDash val="solid"/>
            <a:tailEnd type="triangle"/>
          </a:ln>
        </p:spPr>
      </p:sp>
      <p:sp>
        <p:nvSpPr>
          <p:cNvPr id="33" name="Shape 31"/>
          <p:cNvSpPr/>
          <p:nvPr/>
        </p:nvSpPr>
        <p:spPr>
          <a:xfrm>
            <a:off x="2139696" y="5166360"/>
            <a:ext cx="7909560" cy="640080"/>
          </a:xfrm>
          <a:prstGeom prst="roundRect">
            <a:avLst>
              <a:gd name="adj" fmla="val 14286"/>
            </a:avLst>
          </a:prstGeom>
          <a:solidFill>
            <a:srgbClr val="023436"/>
          </a:solidFill>
          <a:ln/>
          <a:effectLst>
            <a:outerShdw blurRad="76200" dist="25400" dir="5400000" algn="bl" rotWithShape="0">
              <a:srgbClr val="000000">
                <a:alpha val="15000"/>
              </a:srgbClr>
            </a:outerShdw>
          </a:effectLst>
        </p:spPr>
      </p:sp>
      <p:sp>
        <p:nvSpPr>
          <p:cNvPr id="34" name="Text 32"/>
          <p:cNvSpPr txBox="1"/>
          <p:nvPr/>
        </p:nvSpPr>
        <p:spPr>
          <a:xfrm>
            <a:off x="2139696" y="5166360"/>
            <a:ext cx="7909560" cy="6400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MySQL Database  —  profiles, resumes, jobs, match scores</a:t>
            </a:r>
            <a:endParaRPr lang="en-US" sz="1300" dirty="0"/>
          </a:p>
        </p:txBody>
      </p:sp>
      <p:sp>
        <p:nvSpPr>
          <p:cNvPr id="35" name="Text 33"/>
          <p:cNvSpPr txBox="1"/>
          <p:nvPr/>
        </p:nvSpPr>
        <p:spPr>
          <a:xfrm>
            <a:off x="11521440" y="6492240"/>
            <a:ext cx="457200" cy="274320"/>
          </a:xfrm>
          <a:prstGeom prst="rect">
            <a:avLst/>
          </a:prstGeom>
          <a:noFill/>
          <a:ln/>
        </p:spPr>
        <p:txBody>
          <a:bodyPr wrap="square" lIns="0" tIns="0" rIns="0" bIns="0" rtlCol="0" anchor="ctr"/>
          <a:lstStyle/>
          <a:p>
            <a:pPr marL="0" indent="0" algn="r">
              <a:buNone/>
            </a:pPr>
            <a:r>
              <a:rPr lang="en-US" sz="1000" dirty="0">
                <a:solidFill>
                  <a:srgbClr val="9AA9A8"/>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23436"/>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9144000"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Tools &amp; Technologies Used</a:t>
            </a:r>
            <a:endParaRPr lang="en-US" sz="3200" dirty="0"/>
          </a:p>
        </p:txBody>
      </p:sp>
      <p:sp>
        <p:nvSpPr>
          <p:cNvPr id="3" name="Shape 1"/>
          <p:cNvSpPr/>
          <p:nvPr/>
        </p:nvSpPr>
        <p:spPr>
          <a:xfrm>
            <a:off x="640080" y="1508760"/>
            <a:ext cx="2514600" cy="1737360"/>
          </a:xfrm>
          <a:prstGeom prst="roundRect">
            <a:avLst>
              <a:gd name="adj" fmla="val 5263"/>
            </a:avLst>
          </a:prstGeom>
          <a:solidFill>
            <a:srgbClr val="0C4548"/>
          </a:solidFill>
          <a:ln/>
        </p:spPr>
      </p:sp>
      <p:sp>
        <p:nvSpPr>
          <p:cNvPr id="4" name="Shape 2"/>
          <p:cNvSpPr/>
          <p:nvPr/>
        </p:nvSpPr>
        <p:spPr>
          <a:xfrm>
            <a:off x="1623060" y="1709928"/>
            <a:ext cx="548640" cy="548640"/>
          </a:xfrm>
          <a:prstGeom prst="ellipse">
            <a:avLst/>
          </a:prstGeom>
          <a:solidFill>
            <a:srgbClr val="02C39A"/>
          </a:solidFill>
          <a:ln/>
        </p:spPr>
      </p:sp>
      <p:sp>
        <p:nvSpPr>
          <p:cNvPr id="5" name="Text 3"/>
          <p:cNvSpPr txBox="1"/>
          <p:nvPr/>
        </p:nvSpPr>
        <p:spPr>
          <a:xfrm>
            <a:off x="1623060" y="1709928"/>
            <a:ext cx="548640" cy="548640"/>
          </a:xfrm>
          <a:prstGeom prst="rect">
            <a:avLst/>
          </a:prstGeom>
          <a:noFill/>
          <a:ln/>
        </p:spPr>
        <p:txBody>
          <a:bodyPr wrap="square" lIns="0" tIns="0" rIns="0" bIns="0" rtlCol="0" anchor="ctr"/>
          <a:lstStyle/>
          <a:p>
            <a:pPr marL="0" indent="0" algn="ctr">
              <a:buNone/>
            </a:pPr>
            <a:r>
              <a:rPr lang="en-US" sz="2000" b="1" dirty="0">
                <a:solidFill>
                  <a:srgbClr val="023436"/>
                </a:solidFill>
                <a:latin typeface="Calibri" pitchFamily="34" charset="0"/>
                <a:ea typeface="Calibri" pitchFamily="34" charset="-122"/>
                <a:cs typeface="Calibri" pitchFamily="34" charset="-120"/>
              </a:rPr>
              <a:t>F</a:t>
            </a:r>
            <a:endParaRPr lang="en-US" sz="2000" dirty="0"/>
          </a:p>
        </p:txBody>
      </p:sp>
      <p:sp>
        <p:nvSpPr>
          <p:cNvPr id="6" name="Text 4"/>
          <p:cNvSpPr txBox="1"/>
          <p:nvPr/>
        </p:nvSpPr>
        <p:spPr>
          <a:xfrm>
            <a:off x="731520" y="2377440"/>
            <a:ext cx="233172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Frontend</a:t>
            </a:r>
            <a:endParaRPr lang="en-US" sz="1300" dirty="0"/>
          </a:p>
        </p:txBody>
      </p:sp>
      <p:sp>
        <p:nvSpPr>
          <p:cNvPr id="7" name="Text 5"/>
          <p:cNvSpPr txBox="1"/>
          <p:nvPr/>
        </p:nvSpPr>
        <p:spPr>
          <a:xfrm>
            <a:off x="731520" y="2697480"/>
            <a:ext cx="2331720" cy="502920"/>
          </a:xfrm>
          <a:prstGeom prst="rect">
            <a:avLst/>
          </a:prstGeom>
          <a:noFill/>
          <a:ln/>
        </p:spPr>
        <p:txBody>
          <a:bodyPr wrap="square" lIns="0" tIns="0" rIns="0" bIns="0" rtlCol="0" anchor="t"/>
          <a:lstStyle/>
          <a:p>
            <a:pPr marL="0" indent="0" algn="ctr">
              <a:lnSpc>
                <a:spcPct val="115000"/>
              </a:lnSpc>
              <a:buNone/>
            </a:pPr>
            <a:r>
              <a:rPr lang="en-US" sz="1050" dirty="0">
                <a:solidFill>
                  <a:srgbClr val="9FC7C4"/>
                </a:solidFill>
                <a:latin typeface="Calibri" pitchFamily="34" charset="0"/>
                <a:ea typeface="Calibri" pitchFamily="34" charset="-122"/>
                <a:cs typeface="Calibri" pitchFamily="34" charset="-120"/>
              </a:rPr>
              <a:t>HTML, CSS, JavaScript, Bootstrap</a:t>
            </a:r>
            <a:endParaRPr lang="en-US" sz="1050" dirty="0"/>
          </a:p>
        </p:txBody>
      </p:sp>
      <p:sp>
        <p:nvSpPr>
          <p:cNvPr id="8" name="Shape 6"/>
          <p:cNvSpPr/>
          <p:nvPr/>
        </p:nvSpPr>
        <p:spPr>
          <a:xfrm>
            <a:off x="3429000" y="1508760"/>
            <a:ext cx="2514600" cy="1737360"/>
          </a:xfrm>
          <a:prstGeom prst="roundRect">
            <a:avLst>
              <a:gd name="adj" fmla="val 5263"/>
            </a:avLst>
          </a:prstGeom>
          <a:solidFill>
            <a:srgbClr val="0C4548"/>
          </a:solidFill>
          <a:ln/>
        </p:spPr>
      </p:sp>
      <p:sp>
        <p:nvSpPr>
          <p:cNvPr id="9" name="Shape 7"/>
          <p:cNvSpPr/>
          <p:nvPr/>
        </p:nvSpPr>
        <p:spPr>
          <a:xfrm>
            <a:off x="4411980" y="1709928"/>
            <a:ext cx="548640" cy="548640"/>
          </a:xfrm>
          <a:prstGeom prst="ellipse">
            <a:avLst/>
          </a:prstGeom>
          <a:solidFill>
            <a:srgbClr val="02C39A"/>
          </a:solidFill>
          <a:ln/>
        </p:spPr>
      </p:sp>
      <p:sp>
        <p:nvSpPr>
          <p:cNvPr id="10" name="Text 8"/>
          <p:cNvSpPr txBox="1"/>
          <p:nvPr/>
        </p:nvSpPr>
        <p:spPr>
          <a:xfrm>
            <a:off x="4411980" y="1709928"/>
            <a:ext cx="548640" cy="548640"/>
          </a:xfrm>
          <a:prstGeom prst="rect">
            <a:avLst/>
          </a:prstGeom>
          <a:noFill/>
          <a:ln/>
        </p:spPr>
        <p:txBody>
          <a:bodyPr wrap="square" lIns="0" tIns="0" rIns="0" bIns="0" rtlCol="0" anchor="ctr"/>
          <a:lstStyle/>
          <a:p>
            <a:pPr marL="0" indent="0" algn="ctr">
              <a:buNone/>
            </a:pPr>
            <a:r>
              <a:rPr lang="en-US" sz="2000" b="1" dirty="0">
                <a:solidFill>
                  <a:srgbClr val="023436"/>
                </a:solidFill>
                <a:latin typeface="Calibri" pitchFamily="34" charset="0"/>
                <a:ea typeface="Calibri" pitchFamily="34" charset="-122"/>
                <a:cs typeface="Calibri" pitchFamily="34" charset="-120"/>
              </a:rPr>
              <a:t>B</a:t>
            </a:r>
            <a:endParaRPr lang="en-US" sz="2000" dirty="0"/>
          </a:p>
        </p:txBody>
      </p:sp>
      <p:sp>
        <p:nvSpPr>
          <p:cNvPr id="11" name="Text 9"/>
          <p:cNvSpPr txBox="1"/>
          <p:nvPr/>
        </p:nvSpPr>
        <p:spPr>
          <a:xfrm>
            <a:off x="3520440" y="2377440"/>
            <a:ext cx="233172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Backend</a:t>
            </a:r>
            <a:endParaRPr lang="en-US" sz="1300" dirty="0"/>
          </a:p>
        </p:txBody>
      </p:sp>
      <p:sp>
        <p:nvSpPr>
          <p:cNvPr id="12" name="Text 10"/>
          <p:cNvSpPr txBox="1"/>
          <p:nvPr/>
        </p:nvSpPr>
        <p:spPr>
          <a:xfrm>
            <a:off x="3520440" y="2697480"/>
            <a:ext cx="2331720" cy="502920"/>
          </a:xfrm>
          <a:prstGeom prst="rect">
            <a:avLst/>
          </a:prstGeom>
          <a:noFill/>
          <a:ln/>
        </p:spPr>
        <p:txBody>
          <a:bodyPr wrap="square" lIns="0" tIns="0" rIns="0" bIns="0" rtlCol="0" anchor="t"/>
          <a:lstStyle/>
          <a:p>
            <a:pPr marL="0" indent="0" algn="ctr">
              <a:lnSpc>
                <a:spcPct val="115000"/>
              </a:lnSpc>
              <a:buNone/>
            </a:pPr>
            <a:r>
              <a:rPr lang="en-US" sz="1050" dirty="0">
                <a:solidFill>
                  <a:srgbClr val="9FC7C4"/>
                </a:solidFill>
                <a:latin typeface="Calibri" pitchFamily="34" charset="0"/>
                <a:ea typeface="Calibri" pitchFamily="34" charset="-122"/>
                <a:cs typeface="Calibri" pitchFamily="34" charset="-120"/>
              </a:rPr>
              <a:t>Python, Flask</a:t>
            </a:r>
            <a:endParaRPr lang="en-US" sz="1050" dirty="0"/>
          </a:p>
        </p:txBody>
      </p:sp>
      <p:sp>
        <p:nvSpPr>
          <p:cNvPr id="13" name="Shape 11"/>
          <p:cNvSpPr/>
          <p:nvPr/>
        </p:nvSpPr>
        <p:spPr>
          <a:xfrm>
            <a:off x="6217920" y="1508760"/>
            <a:ext cx="2514600" cy="1737360"/>
          </a:xfrm>
          <a:prstGeom prst="roundRect">
            <a:avLst>
              <a:gd name="adj" fmla="val 5263"/>
            </a:avLst>
          </a:prstGeom>
          <a:solidFill>
            <a:srgbClr val="0C4548"/>
          </a:solidFill>
          <a:ln/>
        </p:spPr>
      </p:sp>
      <p:sp>
        <p:nvSpPr>
          <p:cNvPr id="14" name="Shape 12"/>
          <p:cNvSpPr/>
          <p:nvPr/>
        </p:nvSpPr>
        <p:spPr>
          <a:xfrm>
            <a:off x="7200900" y="1709928"/>
            <a:ext cx="548640" cy="548640"/>
          </a:xfrm>
          <a:prstGeom prst="ellipse">
            <a:avLst/>
          </a:prstGeom>
          <a:solidFill>
            <a:srgbClr val="02C39A"/>
          </a:solidFill>
          <a:ln/>
        </p:spPr>
      </p:sp>
      <p:sp>
        <p:nvSpPr>
          <p:cNvPr id="15" name="Text 13"/>
          <p:cNvSpPr txBox="1"/>
          <p:nvPr/>
        </p:nvSpPr>
        <p:spPr>
          <a:xfrm>
            <a:off x="7200900" y="1709928"/>
            <a:ext cx="548640" cy="548640"/>
          </a:xfrm>
          <a:prstGeom prst="rect">
            <a:avLst/>
          </a:prstGeom>
          <a:noFill/>
          <a:ln/>
        </p:spPr>
        <p:txBody>
          <a:bodyPr wrap="square" lIns="0" tIns="0" rIns="0" bIns="0" rtlCol="0" anchor="ctr"/>
          <a:lstStyle/>
          <a:p>
            <a:pPr marL="0" indent="0" algn="ctr">
              <a:buNone/>
            </a:pPr>
            <a:r>
              <a:rPr lang="en-US" sz="2000" b="1" dirty="0">
                <a:solidFill>
                  <a:srgbClr val="023436"/>
                </a:solidFill>
                <a:latin typeface="Calibri" pitchFamily="34" charset="0"/>
                <a:ea typeface="Calibri" pitchFamily="34" charset="-122"/>
                <a:cs typeface="Calibri" pitchFamily="34" charset="-120"/>
              </a:rPr>
              <a:t>R</a:t>
            </a:r>
            <a:endParaRPr lang="en-US" sz="2000" dirty="0"/>
          </a:p>
        </p:txBody>
      </p:sp>
      <p:sp>
        <p:nvSpPr>
          <p:cNvPr id="16" name="Text 14"/>
          <p:cNvSpPr txBox="1"/>
          <p:nvPr/>
        </p:nvSpPr>
        <p:spPr>
          <a:xfrm>
            <a:off x="6309360" y="2377440"/>
            <a:ext cx="233172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Resume Parsing</a:t>
            </a:r>
            <a:endParaRPr lang="en-US" sz="1300" dirty="0"/>
          </a:p>
        </p:txBody>
      </p:sp>
      <p:sp>
        <p:nvSpPr>
          <p:cNvPr id="17" name="Text 15"/>
          <p:cNvSpPr txBox="1"/>
          <p:nvPr/>
        </p:nvSpPr>
        <p:spPr>
          <a:xfrm>
            <a:off x="6309360" y="2697480"/>
            <a:ext cx="2331720" cy="502920"/>
          </a:xfrm>
          <a:prstGeom prst="rect">
            <a:avLst/>
          </a:prstGeom>
          <a:noFill/>
          <a:ln/>
        </p:spPr>
        <p:txBody>
          <a:bodyPr wrap="square" lIns="0" tIns="0" rIns="0" bIns="0" rtlCol="0" anchor="t"/>
          <a:lstStyle/>
          <a:p>
            <a:pPr marL="0" indent="0" algn="ctr">
              <a:lnSpc>
                <a:spcPct val="115000"/>
              </a:lnSpc>
              <a:buNone/>
            </a:pPr>
            <a:r>
              <a:rPr lang="en-US" sz="1050" dirty="0">
                <a:solidFill>
                  <a:srgbClr val="9FC7C4"/>
                </a:solidFill>
                <a:latin typeface="Calibri" pitchFamily="34" charset="0"/>
                <a:ea typeface="Calibri" pitchFamily="34" charset="-122"/>
                <a:cs typeface="Calibri" pitchFamily="34" charset="-120"/>
              </a:rPr>
              <a:t>Python, PyPDF2, python-docx</a:t>
            </a:r>
            <a:endParaRPr lang="en-US" sz="1050" dirty="0"/>
          </a:p>
        </p:txBody>
      </p:sp>
      <p:sp>
        <p:nvSpPr>
          <p:cNvPr id="18" name="Shape 16"/>
          <p:cNvSpPr/>
          <p:nvPr/>
        </p:nvSpPr>
        <p:spPr>
          <a:xfrm>
            <a:off x="9006840" y="1508760"/>
            <a:ext cx="2514600" cy="1737360"/>
          </a:xfrm>
          <a:prstGeom prst="roundRect">
            <a:avLst>
              <a:gd name="adj" fmla="val 5263"/>
            </a:avLst>
          </a:prstGeom>
          <a:solidFill>
            <a:srgbClr val="0C4548"/>
          </a:solidFill>
          <a:ln/>
        </p:spPr>
      </p:sp>
      <p:sp>
        <p:nvSpPr>
          <p:cNvPr id="19" name="Shape 17"/>
          <p:cNvSpPr/>
          <p:nvPr/>
        </p:nvSpPr>
        <p:spPr>
          <a:xfrm>
            <a:off x="9989820" y="1709928"/>
            <a:ext cx="548640" cy="548640"/>
          </a:xfrm>
          <a:prstGeom prst="ellipse">
            <a:avLst/>
          </a:prstGeom>
          <a:solidFill>
            <a:srgbClr val="02C39A"/>
          </a:solidFill>
          <a:ln/>
        </p:spPr>
      </p:sp>
      <p:sp>
        <p:nvSpPr>
          <p:cNvPr id="20" name="Text 18"/>
          <p:cNvSpPr txBox="1"/>
          <p:nvPr/>
        </p:nvSpPr>
        <p:spPr>
          <a:xfrm>
            <a:off x="9989820" y="1709928"/>
            <a:ext cx="548640" cy="548640"/>
          </a:xfrm>
          <a:prstGeom prst="rect">
            <a:avLst/>
          </a:prstGeom>
          <a:noFill/>
          <a:ln/>
        </p:spPr>
        <p:txBody>
          <a:bodyPr wrap="square" lIns="0" tIns="0" rIns="0" bIns="0" rtlCol="0" anchor="ctr"/>
          <a:lstStyle/>
          <a:p>
            <a:pPr marL="0" indent="0" algn="ctr">
              <a:buNone/>
            </a:pPr>
            <a:r>
              <a:rPr lang="en-US" sz="2000" b="1" dirty="0">
                <a:solidFill>
                  <a:srgbClr val="023436"/>
                </a:solidFill>
                <a:latin typeface="Calibri" pitchFamily="34" charset="0"/>
                <a:ea typeface="Calibri" pitchFamily="34" charset="-122"/>
                <a:cs typeface="Calibri" pitchFamily="34" charset="-120"/>
              </a:rPr>
              <a:t>M</a:t>
            </a:r>
            <a:endParaRPr lang="en-US" sz="2000" dirty="0"/>
          </a:p>
        </p:txBody>
      </p:sp>
      <p:sp>
        <p:nvSpPr>
          <p:cNvPr id="21" name="Text 19"/>
          <p:cNvSpPr txBox="1"/>
          <p:nvPr/>
        </p:nvSpPr>
        <p:spPr>
          <a:xfrm>
            <a:off x="9098280" y="2377440"/>
            <a:ext cx="233172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Matching</a:t>
            </a:r>
            <a:endParaRPr lang="en-US" sz="1300" dirty="0"/>
          </a:p>
        </p:txBody>
      </p:sp>
      <p:sp>
        <p:nvSpPr>
          <p:cNvPr id="22" name="Text 20"/>
          <p:cNvSpPr txBox="1"/>
          <p:nvPr/>
        </p:nvSpPr>
        <p:spPr>
          <a:xfrm>
            <a:off x="9098280" y="2697480"/>
            <a:ext cx="2331720" cy="502920"/>
          </a:xfrm>
          <a:prstGeom prst="rect">
            <a:avLst/>
          </a:prstGeom>
          <a:noFill/>
          <a:ln/>
        </p:spPr>
        <p:txBody>
          <a:bodyPr wrap="square" lIns="0" tIns="0" rIns="0" bIns="0" rtlCol="0" anchor="t"/>
          <a:lstStyle/>
          <a:p>
            <a:pPr marL="0" indent="0" algn="ctr">
              <a:lnSpc>
                <a:spcPct val="115000"/>
              </a:lnSpc>
              <a:buNone/>
            </a:pPr>
            <a:r>
              <a:rPr lang="en-US" sz="1050" dirty="0">
                <a:solidFill>
                  <a:srgbClr val="9FC7C4"/>
                </a:solidFill>
                <a:latin typeface="Calibri" pitchFamily="34" charset="0"/>
                <a:ea typeface="Calibri" pitchFamily="34" charset="-122"/>
                <a:cs typeface="Calibri" pitchFamily="34" charset="-120"/>
              </a:rPr>
              <a:t>Python, Scikit-learn</a:t>
            </a:r>
            <a:endParaRPr lang="en-US" sz="1050" dirty="0"/>
          </a:p>
        </p:txBody>
      </p:sp>
      <p:sp>
        <p:nvSpPr>
          <p:cNvPr id="23" name="Shape 21"/>
          <p:cNvSpPr/>
          <p:nvPr/>
        </p:nvSpPr>
        <p:spPr>
          <a:xfrm>
            <a:off x="640080" y="3520440"/>
            <a:ext cx="2514600" cy="1737360"/>
          </a:xfrm>
          <a:prstGeom prst="roundRect">
            <a:avLst>
              <a:gd name="adj" fmla="val 5263"/>
            </a:avLst>
          </a:prstGeom>
          <a:solidFill>
            <a:srgbClr val="0C4548"/>
          </a:solidFill>
          <a:ln/>
        </p:spPr>
      </p:sp>
      <p:sp>
        <p:nvSpPr>
          <p:cNvPr id="24" name="Shape 22"/>
          <p:cNvSpPr/>
          <p:nvPr/>
        </p:nvSpPr>
        <p:spPr>
          <a:xfrm>
            <a:off x="1623060" y="3721608"/>
            <a:ext cx="548640" cy="548640"/>
          </a:xfrm>
          <a:prstGeom prst="ellipse">
            <a:avLst/>
          </a:prstGeom>
          <a:solidFill>
            <a:srgbClr val="02C39A"/>
          </a:solidFill>
          <a:ln/>
        </p:spPr>
      </p:sp>
      <p:sp>
        <p:nvSpPr>
          <p:cNvPr id="25" name="Text 23"/>
          <p:cNvSpPr txBox="1"/>
          <p:nvPr/>
        </p:nvSpPr>
        <p:spPr>
          <a:xfrm>
            <a:off x="1623060" y="3721608"/>
            <a:ext cx="548640" cy="548640"/>
          </a:xfrm>
          <a:prstGeom prst="rect">
            <a:avLst/>
          </a:prstGeom>
          <a:noFill/>
          <a:ln/>
        </p:spPr>
        <p:txBody>
          <a:bodyPr wrap="square" lIns="0" tIns="0" rIns="0" bIns="0" rtlCol="0" anchor="ctr"/>
          <a:lstStyle/>
          <a:p>
            <a:pPr marL="0" indent="0" algn="ctr">
              <a:buNone/>
            </a:pPr>
            <a:r>
              <a:rPr lang="en-US" sz="2000" b="1" dirty="0">
                <a:solidFill>
                  <a:srgbClr val="023436"/>
                </a:solidFill>
                <a:latin typeface="Calibri" pitchFamily="34" charset="0"/>
                <a:ea typeface="Calibri" pitchFamily="34" charset="-122"/>
                <a:cs typeface="Calibri" pitchFamily="34" charset="-120"/>
              </a:rPr>
              <a:t>D</a:t>
            </a:r>
            <a:endParaRPr lang="en-US" sz="2000" dirty="0"/>
          </a:p>
        </p:txBody>
      </p:sp>
      <p:sp>
        <p:nvSpPr>
          <p:cNvPr id="26" name="Text 24"/>
          <p:cNvSpPr txBox="1"/>
          <p:nvPr/>
        </p:nvSpPr>
        <p:spPr>
          <a:xfrm>
            <a:off x="731520" y="4389120"/>
            <a:ext cx="233172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Database</a:t>
            </a:r>
            <a:endParaRPr lang="en-US" sz="1300" dirty="0"/>
          </a:p>
        </p:txBody>
      </p:sp>
      <p:sp>
        <p:nvSpPr>
          <p:cNvPr id="27" name="Text 25"/>
          <p:cNvSpPr txBox="1"/>
          <p:nvPr/>
        </p:nvSpPr>
        <p:spPr>
          <a:xfrm>
            <a:off x="731520" y="4709160"/>
            <a:ext cx="2331720" cy="502920"/>
          </a:xfrm>
          <a:prstGeom prst="rect">
            <a:avLst/>
          </a:prstGeom>
          <a:noFill/>
          <a:ln/>
        </p:spPr>
        <p:txBody>
          <a:bodyPr wrap="square" lIns="0" tIns="0" rIns="0" bIns="0" rtlCol="0" anchor="t"/>
          <a:lstStyle/>
          <a:p>
            <a:pPr marL="0" indent="0" algn="ctr">
              <a:lnSpc>
                <a:spcPct val="115000"/>
              </a:lnSpc>
              <a:buNone/>
            </a:pPr>
            <a:r>
              <a:rPr lang="en-US" sz="1050" dirty="0">
                <a:solidFill>
                  <a:srgbClr val="9FC7C4"/>
                </a:solidFill>
                <a:latin typeface="Calibri" pitchFamily="34" charset="0"/>
                <a:ea typeface="Calibri" pitchFamily="34" charset="-122"/>
                <a:cs typeface="Calibri" pitchFamily="34" charset="-120"/>
              </a:rPr>
              <a:t>MySQL</a:t>
            </a:r>
            <a:endParaRPr lang="en-US" sz="1050" dirty="0"/>
          </a:p>
        </p:txBody>
      </p:sp>
      <p:sp>
        <p:nvSpPr>
          <p:cNvPr id="28" name="Shape 26"/>
          <p:cNvSpPr/>
          <p:nvPr/>
        </p:nvSpPr>
        <p:spPr>
          <a:xfrm>
            <a:off x="3429000" y="3520440"/>
            <a:ext cx="2514600" cy="1737360"/>
          </a:xfrm>
          <a:prstGeom prst="roundRect">
            <a:avLst>
              <a:gd name="adj" fmla="val 5263"/>
            </a:avLst>
          </a:prstGeom>
          <a:solidFill>
            <a:srgbClr val="0C4548"/>
          </a:solidFill>
          <a:ln/>
        </p:spPr>
      </p:sp>
      <p:sp>
        <p:nvSpPr>
          <p:cNvPr id="29" name="Shape 27"/>
          <p:cNvSpPr/>
          <p:nvPr/>
        </p:nvSpPr>
        <p:spPr>
          <a:xfrm>
            <a:off x="4411980" y="3721608"/>
            <a:ext cx="548640" cy="548640"/>
          </a:xfrm>
          <a:prstGeom prst="ellipse">
            <a:avLst/>
          </a:prstGeom>
          <a:solidFill>
            <a:srgbClr val="02C39A"/>
          </a:solidFill>
          <a:ln/>
        </p:spPr>
      </p:sp>
      <p:sp>
        <p:nvSpPr>
          <p:cNvPr id="30" name="Text 28"/>
          <p:cNvSpPr txBox="1"/>
          <p:nvPr/>
        </p:nvSpPr>
        <p:spPr>
          <a:xfrm>
            <a:off x="4411980" y="3721608"/>
            <a:ext cx="548640" cy="548640"/>
          </a:xfrm>
          <a:prstGeom prst="rect">
            <a:avLst/>
          </a:prstGeom>
          <a:noFill/>
          <a:ln/>
        </p:spPr>
        <p:txBody>
          <a:bodyPr wrap="square" lIns="0" tIns="0" rIns="0" bIns="0" rtlCol="0" anchor="ctr"/>
          <a:lstStyle/>
          <a:p>
            <a:pPr marL="0" indent="0" algn="ctr">
              <a:buNone/>
            </a:pPr>
            <a:r>
              <a:rPr lang="en-US" sz="2000" b="1" dirty="0">
                <a:solidFill>
                  <a:srgbClr val="023436"/>
                </a:solidFill>
                <a:latin typeface="Calibri" pitchFamily="34" charset="0"/>
                <a:ea typeface="Calibri" pitchFamily="34" charset="-122"/>
                <a:cs typeface="Calibri" pitchFamily="34" charset="-120"/>
              </a:rPr>
              <a:t>D</a:t>
            </a:r>
            <a:endParaRPr lang="en-US" sz="2000" dirty="0"/>
          </a:p>
        </p:txBody>
      </p:sp>
      <p:sp>
        <p:nvSpPr>
          <p:cNvPr id="31" name="Text 29"/>
          <p:cNvSpPr txBox="1"/>
          <p:nvPr/>
        </p:nvSpPr>
        <p:spPr>
          <a:xfrm>
            <a:off x="3520440" y="4389120"/>
            <a:ext cx="233172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Dev Tool</a:t>
            </a:r>
            <a:endParaRPr lang="en-US" sz="1300" dirty="0"/>
          </a:p>
        </p:txBody>
      </p:sp>
      <p:sp>
        <p:nvSpPr>
          <p:cNvPr id="32" name="Text 30"/>
          <p:cNvSpPr txBox="1"/>
          <p:nvPr/>
        </p:nvSpPr>
        <p:spPr>
          <a:xfrm>
            <a:off x="3520440" y="4709160"/>
            <a:ext cx="2331720" cy="502920"/>
          </a:xfrm>
          <a:prstGeom prst="rect">
            <a:avLst/>
          </a:prstGeom>
          <a:noFill/>
          <a:ln/>
        </p:spPr>
        <p:txBody>
          <a:bodyPr wrap="square" lIns="0" tIns="0" rIns="0" bIns="0" rtlCol="0" anchor="t"/>
          <a:lstStyle/>
          <a:p>
            <a:pPr marL="0" indent="0" algn="ctr">
              <a:lnSpc>
                <a:spcPct val="115000"/>
              </a:lnSpc>
              <a:buNone/>
            </a:pPr>
            <a:r>
              <a:rPr lang="en-US" sz="1050" dirty="0">
                <a:solidFill>
                  <a:srgbClr val="9FC7C4"/>
                </a:solidFill>
                <a:latin typeface="Calibri" pitchFamily="34" charset="0"/>
                <a:ea typeface="Calibri" pitchFamily="34" charset="-122"/>
                <a:cs typeface="Calibri" pitchFamily="34" charset="-120"/>
              </a:rPr>
              <a:t>Visual Studio Code</a:t>
            </a:r>
            <a:endParaRPr lang="en-US" sz="1050" dirty="0"/>
          </a:p>
        </p:txBody>
      </p:sp>
      <p:sp>
        <p:nvSpPr>
          <p:cNvPr id="33" name="Shape 31"/>
          <p:cNvSpPr/>
          <p:nvPr/>
        </p:nvSpPr>
        <p:spPr>
          <a:xfrm>
            <a:off x="6217920" y="3520440"/>
            <a:ext cx="2514600" cy="1737360"/>
          </a:xfrm>
          <a:prstGeom prst="roundRect">
            <a:avLst>
              <a:gd name="adj" fmla="val 5263"/>
            </a:avLst>
          </a:prstGeom>
          <a:solidFill>
            <a:srgbClr val="0C4548"/>
          </a:solidFill>
          <a:ln/>
        </p:spPr>
      </p:sp>
      <p:sp>
        <p:nvSpPr>
          <p:cNvPr id="34" name="Shape 32"/>
          <p:cNvSpPr/>
          <p:nvPr/>
        </p:nvSpPr>
        <p:spPr>
          <a:xfrm>
            <a:off x="7200900" y="3721608"/>
            <a:ext cx="548640" cy="548640"/>
          </a:xfrm>
          <a:prstGeom prst="ellipse">
            <a:avLst/>
          </a:prstGeom>
          <a:solidFill>
            <a:srgbClr val="02C39A"/>
          </a:solidFill>
          <a:ln/>
        </p:spPr>
      </p:sp>
      <p:sp>
        <p:nvSpPr>
          <p:cNvPr id="35" name="Text 33"/>
          <p:cNvSpPr txBox="1"/>
          <p:nvPr/>
        </p:nvSpPr>
        <p:spPr>
          <a:xfrm>
            <a:off x="7200900" y="3721608"/>
            <a:ext cx="548640" cy="548640"/>
          </a:xfrm>
          <a:prstGeom prst="rect">
            <a:avLst/>
          </a:prstGeom>
          <a:noFill/>
          <a:ln/>
        </p:spPr>
        <p:txBody>
          <a:bodyPr wrap="square" lIns="0" tIns="0" rIns="0" bIns="0" rtlCol="0" anchor="ctr"/>
          <a:lstStyle/>
          <a:p>
            <a:pPr marL="0" indent="0" algn="ctr">
              <a:buNone/>
            </a:pPr>
            <a:r>
              <a:rPr lang="en-US" sz="2000" b="1" dirty="0">
                <a:solidFill>
                  <a:srgbClr val="023436"/>
                </a:solidFill>
                <a:latin typeface="Calibri" pitchFamily="34" charset="0"/>
                <a:ea typeface="Calibri" pitchFamily="34" charset="-122"/>
                <a:cs typeface="Calibri" pitchFamily="34" charset="-120"/>
              </a:rPr>
              <a:t>V</a:t>
            </a:r>
            <a:endParaRPr lang="en-US" sz="2000" dirty="0"/>
          </a:p>
        </p:txBody>
      </p:sp>
      <p:sp>
        <p:nvSpPr>
          <p:cNvPr id="36" name="Text 34"/>
          <p:cNvSpPr txBox="1"/>
          <p:nvPr/>
        </p:nvSpPr>
        <p:spPr>
          <a:xfrm>
            <a:off x="6309360" y="4389120"/>
            <a:ext cx="233172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Version Control</a:t>
            </a:r>
            <a:endParaRPr lang="en-US" sz="1300" dirty="0"/>
          </a:p>
        </p:txBody>
      </p:sp>
      <p:sp>
        <p:nvSpPr>
          <p:cNvPr id="37" name="Text 35"/>
          <p:cNvSpPr txBox="1"/>
          <p:nvPr/>
        </p:nvSpPr>
        <p:spPr>
          <a:xfrm>
            <a:off x="6309360" y="4709160"/>
            <a:ext cx="2331720" cy="502920"/>
          </a:xfrm>
          <a:prstGeom prst="rect">
            <a:avLst/>
          </a:prstGeom>
          <a:noFill/>
          <a:ln/>
        </p:spPr>
        <p:txBody>
          <a:bodyPr wrap="square" lIns="0" tIns="0" rIns="0" bIns="0" rtlCol="0" anchor="t"/>
          <a:lstStyle/>
          <a:p>
            <a:pPr marL="0" indent="0" algn="ctr">
              <a:lnSpc>
                <a:spcPct val="115000"/>
              </a:lnSpc>
              <a:buNone/>
            </a:pPr>
            <a:r>
              <a:rPr lang="en-US" sz="1050" dirty="0">
                <a:solidFill>
                  <a:srgbClr val="9FC7C4"/>
                </a:solidFill>
                <a:latin typeface="Calibri" pitchFamily="34" charset="0"/>
                <a:ea typeface="Calibri" pitchFamily="34" charset="-122"/>
                <a:cs typeface="Calibri" pitchFamily="34" charset="-120"/>
              </a:rPr>
              <a:t>Git, GitHub</a:t>
            </a:r>
            <a:endParaRPr lang="en-US" sz="1050" dirty="0"/>
          </a:p>
        </p:txBody>
      </p:sp>
      <p:sp>
        <p:nvSpPr>
          <p:cNvPr id="38" name="Shape 36"/>
          <p:cNvSpPr/>
          <p:nvPr/>
        </p:nvSpPr>
        <p:spPr>
          <a:xfrm>
            <a:off x="9006840" y="3520440"/>
            <a:ext cx="2514600" cy="1737360"/>
          </a:xfrm>
          <a:prstGeom prst="roundRect">
            <a:avLst>
              <a:gd name="adj" fmla="val 5263"/>
            </a:avLst>
          </a:prstGeom>
          <a:solidFill>
            <a:srgbClr val="0C4548"/>
          </a:solidFill>
          <a:ln/>
        </p:spPr>
      </p:sp>
      <p:sp>
        <p:nvSpPr>
          <p:cNvPr id="39" name="Shape 37"/>
          <p:cNvSpPr/>
          <p:nvPr/>
        </p:nvSpPr>
        <p:spPr>
          <a:xfrm>
            <a:off x="9989820" y="3721608"/>
            <a:ext cx="548640" cy="548640"/>
          </a:xfrm>
          <a:prstGeom prst="ellipse">
            <a:avLst/>
          </a:prstGeom>
          <a:solidFill>
            <a:srgbClr val="02C39A"/>
          </a:solidFill>
          <a:ln/>
        </p:spPr>
      </p:sp>
      <p:sp>
        <p:nvSpPr>
          <p:cNvPr id="40" name="Text 38"/>
          <p:cNvSpPr txBox="1"/>
          <p:nvPr/>
        </p:nvSpPr>
        <p:spPr>
          <a:xfrm>
            <a:off x="9989820" y="3721608"/>
            <a:ext cx="548640" cy="548640"/>
          </a:xfrm>
          <a:prstGeom prst="rect">
            <a:avLst/>
          </a:prstGeom>
          <a:noFill/>
          <a:ln/>
        </p:spPr>
        <p:txBody>
          <a:bodyPr wrap="square" lIns="0" tIns="0" rIns="0" bIns="0" rtlCol="0" anchor="ctr"/>
          <a:lstStyle/>
          <a:p>
            <a:pPr marL="0" indent="0" algn="ctr">
              <a:buNone/>
            </a:pPr>
            <a:r>
              <a:rPr lang="en-US" sz="2000" b="1" dirty="0">
                <a:solidFill>
                  <a:srgbClr val="023436"/>
                </a:solidFill>
                <a:latin typeface="Calibri" pitchFamily="34" charset="0"/>
                <a:ea typeface="Calibri" pitchFamily="34" charset="-122"/>
                <a:cs typeface="Calibri" pitchFamily="34" charset="-120"/>
              </a:rPr>
              <a:t>P</a:t>
            </a:r>
            <a:endParaRPr lang="en-US" sz="2000" dirty="0"/>
          </a:p>
        </p:txBody>
      </p:sp>
      <p:sp>
        <p:nvSpPr>
          <p:cNvPr id="41" name="Text 39"/>
          <p:cNvSpPr txBox="1"/>
          <p:nvPr/>
        </p:nvSpPr>
        <p:spPr>
          <a:xfrm>
            <a:off x="9098280" y="4389120"/>
            <a:ext cx="233172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Platform</a:t>
            </a:r>
            <a:endParaRPr lang="en-US" sz="1300" dirty="0"/>
          </a:p>
        </p:txBody>
      </p:sp>
      <p:sp>
        <p:nvSpPr>
          <p:cNvPr id="42" name="Text 40"/>
          <p:cNvSpPr txBox="1"/>
          <p:nvPr/>
        </p:nvSpPr>
        <p:spPr>
          <a:xfrm>
            <a:off x="9098280" y="4709160"/>
            <a:ext cx="2331720" cy="502920"/>
          </a:xfrm>
          <a:prstGeom prst="rect">
            <a:avLst/>
          </a:prstGeom>
          <a:noFill/>
          <a:ln/>
        </p:spPr>
        <p:txBody>
          <a:bodyPr wrap="square" lIns="0" tIns="0" rIns="0" bIns="0" rtlCol="0" anchor="t"/>
          <a:lstStyle/>
          <a:p>
            <a:pPr marL="0" indent="0" algn="ctr">
              <a:lnSpc>
                <a:spcPct val="115000"/>
              </a:lnSpc>
              <a:buNone/>
            </a:pPr>
            <a:r>
              <a:rPr lang="en-US" sz="1050" dirty="0">
                <a:solidFill>
                  <a:srgbClr val="9FC7C4"/>
                </a:solidFill>
                <a:latin typeface="Calibri" pitchFamily="34" charset="0"/>
                <a:ea typeface="Calibri" pitchFamily="34" charset="-122"/>
                <a:cs typeface="Calibri" pitchFamily="34" charset="-120"/>
              </a:rPr>
              <a:t>Windows</a:t>
            </a:r>
            <a:endParaRPr lang="en-US" sz="1050" dirty="0"/>
          </a:p>
        </p:txBody>
      </p:sp>
      <p:sp>
        <p:nvSpPr>
          <p:cNvPr id="43" name="Text 41"/>
          <p:cNvSpPr txBox="1"/>
          <p:nvPr/>
        </p:nvSpPr>
        <p:spPr>
          <a:xfrm>
            <a:off x="11521440" y="6492240"/>
            <a:ext cx="457200" cy="274320"/>
          </a:xfrm>
          <a:prstGeom prst="rect">
            <a:avLst/>
          </a:prstGeom>
          <a:noFill/>
          <a:ln/>
        </p:spPr>
        <p:txBody>
          <a:bodyPr wrap="square" lIns="0" tIns="0" rIns="0" bIns="0" rtlCol="0" anchor="ctr"/>
          <a:lstStyle/>
          <a:p>
            <a:pPr marL="0" indent="0" algn="r">
              <a:buNone/>
            </a:pPr>
            <a:r>
              <a:rPr lang="en-US" sz="1000" dirty="0">
                <a:solidFill>
                  <a:srgbClr val="9AA9A8"/>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23436"/>
        </a:solidFill>
        <a:effectLst/>
      </p:bgPr>
    </p:bg>
    <p:spTree>
      <p:nvGrpSpPr>
        <p:cNvPr id="1" name=""/>
        <p:cNvGrpSpPr/>
        <p:nvPr/>
      </p:nvGrpSpPr>
      <p:grpSpPr>
        <a:xfrm>
          <a:off x="0" y="0"/>
          <a:ext cx="0" cy="0"/>
          <a:chOff x="0" y="0"/>
          <a:chExt cx="0" cy="0"/>
        </a:xfrm>
      </p:grpSpPr>
      <p:sp>
        <p:nvSpPr>
          <p:cNvPr id="2" name="Shape 0"/>
          <p:cNvSpPr/>
          <p:nvPr/>
        </p:nvSpPr>
        <p:spPr>
          <a:xfrm>
            <a:off x="9692640" y="-1280160"/>
            <a:ext cx="4572000" cy="4572000"/>
          </a:xfrm>
          <a:prstGeom prst="ellipse">
            <a:avLst/>
          </a:prstGeom>
          <a:solidFill>
            <a:srgbClr val="028090">
              <a:alpha val="45000"/>
            </a:srgbClr>
          </a:solidFill>
          <a:ln/>
        </p:spPr>
      </p:sp>
      <p:sp>
        <p:nvSpPr>
          <p:cNvPr id="3" name="Shape 1"/>
          <p:cNvSpPr/>
          <p:nvPr/>
        </p:nvSpPr>
        <p:spPr>
          <a:xfrm>
            <a:off x="-1463040" y="4754880"/>
            <a:ext cx="3657600" cy="3657600"/>
          </a:xfrm>
          <a:prstGeom prst="ellipse">
            <a:avLst/>
          </a:prstGeom>
          <a:solidFill>
            <a:srgbClr val="00A896">
              <a:alpha val="40000"/>
            </a:srgbClr>
          </a:solidFill>
          <a:ln/>
        </p:spPr>
      </p:sp>
      <p:sp>
        <p:nvSpPr>
          <p:cNvPr id="4" name="Text 2"/>
          <p:cNvSpPr txBox="1"/>
          <p:nvPr/>
        </p:nvSpPr>
        <p:spPr>
          <a:xfrm>
            <a:off x="822960" y="2468880"/>
            <a:ext cx="10515600" cy="1188720"/>
          </a:xfrm>
          <a:prstGeom prst="rect">
            <a:avLst/>
          </a:prstGeom>
          <a:noFill/>
          <a:ln/>
        </p:spPr>
        <p:txBody>
          <a:bodyPr wrap="square" lIns="0" tIns="0" rIns="0" bIns="0" rtlCol="0" anchor="ctr"/>
          <a:lstStyle/>
          <a:p>
            <a:pPr marL="0" indent="0" algn="ctr">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sp>
        <p:nvSpPr>
          <p:cNvPr id="5" name="Text 3"/>
          <p:cNvSpPr txBox="1"/>
          <p:nvPr/>
        </p:nvSpPr>
        <p:spPr>
          <a:xfrm>
            <a:off x="822960" y="3611880"/>
            <a:ext cx="10515600" cy="457200"/>
          </a:xfrm>
          <a:prstGeom prst="rect">
            <a:avLst/>
          </a:prstGeom>
          <a:noFill/>
          <a:ln/>
        </p:spPr>
        <p:txBody>
          <a:bodyPr wrap="square" lIns="0" tIns="0" rIns="0" bIns="0" rtlCol="0" anchor="ctr"/>
          <a:lstStyle/>
          <a:p>
            <a:pPr marL="0" indent="0" algn="ctr">
              <a:buNone/>
            </a:pPr>
            <a:r>
              <a:rPr lang="en-US" sz="1500" i="1" dirty="0">
                <a:solidFill>
                  <a:srgbClr val="CFE8E4"/>
                </a:solidFill>
                <a:latin typeface="Calibri" pitchFamily="34" charset="0"/>
                <a:ea typeface="Calibri" pitchFamily="34" charset="-122"/>
                <a:cs typeface="Calibri" pitchFamily="34" charset="-120"/>
              </a:rPr>
              <a:t>Job Portal with Resume Parsing &amp; Matching  •  Team 18</a:t>
            </a:r>
            <a:endParaRPr lang="en-US" sz="1500" dirty="0"/>
          </a:p>
        </p:txBody>
      </p:sp>
      <p:sp>
        <p:nvSpPr>
          <p:cNvPr id="6" name="Text 4"/>
          <p:cNvSpPr txBox="1"/>
          <p:nvPr/>
        </p:nvSpPr>
        <p:spPr>
          <a:xfrm>
            <a:off x="11521440" y="6492240"/>
            <a:ext cx="457200" cy="274320"/>
          </a:xfrm>
          <a:prstGeom prst="rect">
            <a:avLst/>
          </a:prstGeom>
          <a:noFill/>
          <a:ln/>
        </p:spPr>
        <p:txBody>
          <a:bodyPr wrap="square" lIns="0" tIns="0" rIns="0" bIns="0" rtlCol="0" anchor="ctr"/>
          <a:lstStyle/>
          <a:p>
            <a:pPr marL="0" indent="0" algn="r">
              <a:buNone/>
            </a:pPr>
            <a:r>
              <a:rPr lang="en-US" sz="1000" dirty="0">
                <a:solidFill>
                  <a:srgbClr val="9AA9A8"/>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TotalTime>
  <Words>797</Words>
  <Application>Microsoft Office PowerPoint</Application>
  <PresentationFormat>Widescreen</PresentationFormat>
  <Paragraphs>115</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Shivaji Yadav</cp:lastModifiedBy>
  <cp:revision>2</cp:revision>
  <dcterms:created xsi:type="dcterms:W3CDTF">2026-08-27T14:06:18Z</dcterms:created>
  <dcterms:modified xsi:type="dcterms:W3CDTF">2026-08-27T17:16:42Z</dcterms:modified>
</cp:coreProperties>
</file>